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d3bb0c999e4b0d" /><Relationship Type="http://schemas.openxmlformats.org/officeDocument/2006/relationships/extended-properties" Target="/docProps/app.xml" Id="R37f9010192df4be1" /><Relationship Type="http://schemas.openxmlformats.org/officeDocument/2006/relationships/officeDocument" Target="/ppt/presentation.xml" Id="R6f0d2a22338242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70913573da4b5e"/>
  </p:sldMasterIdLst>
  <p:notesMasterIdLst>
    <p:notesMasterId xmlns:r="http://schemas.openxmlformats.org/officeDocument/2006/relationships" r:id="R99ee756ab49a40fd"/>
  </p:notesMasterIdLst>
  <p:sldIdLst>
    <p:sldId xmlns:r="http://schemas.openxmlformats.org/officeDocument/2006/relationships" id="256" r:id="R541c969cacb24cc7"/>
    <p:sldId xmlns:r="http://schemas.openxmlformats.org/officeDocument/2006/relationships" id="257" r:id="Rd56716fc87ec4bf6"/>
    <p:sldId xmlns:r="http://schemas.openxmlformats.org/officeDocument/2006/relationships" id="258" r:id="Ra4eafd2b52214264"/>
    <p:sldId xmlns:r="http://schemas.openxmlformats.org/officeDocument/2006/relationships" id="259" r:id="R2105467a02ce4158"/>
    <p:sldId xmlns:r="http://schemas.openxmlformats.org/officeDocument/2006/relationships" id="260" r:id="Ra53228dbebc34832"/>
    <p:sldId xmlns:r="http://schemas.openxmlformats.org/officeDocument/2006/relationships" id="261" r:id="R5fb27acf99734831"/>
    <p:sldId xmlns:r="http://schemas.openxmlformats.org/officeDocument/2006/relationships" id="262" r:id="Rd41cd92d41dd44e0"/>
    <p:sldId xmlns:r="http://schemas.openxmlformats.org/officeDocument/2006/relationships" id="263" r:id="R349bb6dda6a64039"/>
    <p:sldId xmlns:r="http://schemas.openxmlformats.org/officeDocument/2006/relationships" id="264" r:id="Re6bfa19f5b6e4f6f"/>
    <p:sldId xmlns:r="http://schemas.openxmlformats.org/officeDocument/2006/relationships" id="265" r:id="Redf9919170f24a81"/>
    <p:sldId xmlns:r="http://schemas.openxmlformats.org/officeDocument/2006/relationships" id="266" r:id="Rbcb0f71ed43f4cb1"/>
    <p:sldId xmlns:r="http://schemas.openxmlformats.org/officeDocument/2006/relationships" id="267" r:id="Rb6cd7b6a04e94c9d"/>
    <p:sldId xmlns:r="http://schemas.openxmlformats.org/officeDocument/2006/relationships" id="268" r:id="R7b35bad16b504ef0"/>
    <p:sldId xmlns:r="http://schemas.openxmlformats.org/officeDocument/2006/relationships" id="269" r:id="Rdca4a2b9bccf48ce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3b9895bd464a73" /><Relationship Type="http://schemas.openxmlformats.org/officeDocument/2006/relationships/slideMaster" Target="/ppt/slideMasters/slideMaster1.xml" Id="R5b70913573da4b5e" /><Relationship Type="http://schemas.openxmlformats.org/officeDocument/2006/relationships/notesMaster" Target="/ppt/notesMasters/notesMaster1.xml" Id="R99ee756ab49a40fd" /><Relationship Type="http://schemas.openxmlformats.org/officeDocument/2006/relationships/presProps" Target="/ppt/presProps.xml" Id="Re0a70e001ee74ad5" /><Relationship Type="http://schemas.openxmlformats.org/officeDocument/2006/relationships/tableStyles" Target="/ppt/tableStyles.xml" Id="R59b14f052ef04fe5" /><Relationship Type="http://schemas.openxmlformats.org/officeDocument/2006/relationships/slide" Target="/ppt/slides/slide1.xml" Id="R541c969cacb24cc7" /><Relationship Type="http://schemas.openxmlformats.org/officeDocument/2006/relationships/slide" Target="/ppt/slides/slide2.xml" Id="Rd56716fc87ec4bf6" /><Relationship Type="http://schemas.openxmlformats.org/officeDocument/2006/relationships/slide" Target="/ppt/slides/slide3.xml" Id="Ra4eafd2b52214264" /><Relationship Type="http://schemas.openxmlformats.org/officeDocument/2006/relationships/slide" Target="/ppt/slides/slide4.xml" Id="R2105467a02ce4158" /><Relationship Type="http://schemas.openxmlformats.org/officeDocument/2006/relationships/slide" Target="/ppt/slides/slide5.xml" Id="Ra53228dbebc34832" /><Relationship Type="http://schemas.openxmlformats.org/officeDocument/2006/relationships/slide" Target="/ppt/slides/slide6.xml" Id="R5fb27acf99734831" /><Relationship Type="http://schemas.openxmlformats.org/officeDocument/2006/relationships/slide" Target="/ppt/slides/slide7.xml" Id="Rd41cd92d41dd44e0" /><Relationship Type="http://schemas.openxmlformats.org/officeDocument/2006/relationships/slide" Target="/ppt/slides/slide8.xml" Id="R349bb6dda6a64039" /><Relationship Type="http://schemas.openxmlformats.org/officeDocument/2006/relationships/slide" Target="/ppt/slides/slide9.xml" Id="Re6bfa19f5b6e4f6f" /><Relationship Type="http://schemas.openxmlformats.org/officeDocument/2006/relationships/slide" Target="/ppt/slides/slide10.xml" Id="Redf9919170f24a81" /><Relationship Type="http://schemas.openxmlformats.org/officeDocument/2006/relationships/slide" Target="/ppt/slides/slide11.xml" Id="Rbcb0f71ed43f4cb1" /><Relationship Type="http://schemas.openxmlformats.org/officeDocument/2006/relationships/slide" Target="/ppt/slides/slide12.xml" Id="Rb6cd7b6a04e94c9d" /><Relationship Type="http://schemas.openxmlformats.org/officeDocument/2006/relationships/slide" Target="/ppt/slides/slide13.xml" Id="R7b35bad16b504ef0" /><Relationship Type="http://schemas.openxmlformats.org/officeDocument/2006/relationships/slide" Target="/ppt/slides/slide14.xml" Id="Rdca4a2b9bccf48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b81529a64241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uhana Monochrome">
      <a:dk1>
        <a:srgbClr val="0B0C0C"/>
      </a:dk1>
      <a:lt1>
        <a:srgbClr val="FFFFFF"/>
      </a:lt1>
      <a:dk2>
        <a:srgbClr val="17191A"/>
      </a:dk2>
      <a:lt2>
        <a:srgbClr val="F2F3F3"/>
      </a:lt2>
      <a:accent1>
        <a:srgbClr val="0B0C0C"/>
      </a:accent1>
      <a:accent2>
        <a:srgbClr val="666A6C"/>
      </a:accent2>
      <a:accent3>
        <a:srgbClr val="7D9EAA"/>
      </a:accent3>
      <a:accent4>
        <a:srgbClr val="D8895A"/>
      </a:accent4>
      <a:accent5>
        <a:srgbClr val="E7E9EA"/>
      </a:accent5>
      <a:accent6>
        <a:srgbClr val="A8ACAE"/>
      </a:accent6>
      <a:hlink>
        <a:srgbClr val="7D9EAA"/>
      </a:hlink>
      <a:folHlink>
        <a:srgbClr val="666A6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uhana Monochro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717885c6184f7c" /><Relationship Type="http://schemas.openxmlformats.org/officeDocument/2006/relationships/notesMaster" Target="/ppt/notesMasters/notesMaster1.xml" Id="R7b93b6cc48f04e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4976feccb4456c" /><Relationship Type="http://schemas.openxmlformats.org/officeDocument/2006/relationships/notesMaster" Target="/ppt/notesMasters/notesMaster1.xml" Id="Rd3a354f34a2c45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f986004e8b48c0" /><Relationship Type="http://schemas.openxmlformats.org/officeDocument/2006/relationships/notesMaster" Target="/ppt/notesMasters/notesMaster1.xml" Id="R0940806e0d6440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60b5f562fb46d8" /><Relationship Type="http://schemas.openxmlformats.org/officeDocument/2006/relationships/notesMaster" Target="/ppt/notesMasters/notesMaster1.xml" Id="R7ef973aafceb4f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28dafec45e4e1c" /><Relationship Type="http://schemas.openxmlformats.org/officeDocument/2006/relationships/notesMaster" Target="/ppt/notesMasters/notesMaster1.xml" Id="R401dfde2c0b245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4d97523345412b" /><Relationship Type="http://schemas.openxmlformats.org/officeDocument/2006/relationships/notesMaster" Target="/ppt/notesMasters/notesMaster1.xml" Id="Rb312f0723bc140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e23c12250a4634" /><Relationship Type="http://schemas.openxmlformats.org/officeDocument/2006/relationships/notesMaster" Target="/ppt/notesMasters/notesMaster1.xml" Id="R9b1cc38370814c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63ef769b4a4d2f" /><Relationship Type="http://schemas.openxmlformats.org/officeDocument/2006/relationships/notesMaster" Target="/ppt/notesMasters/notesMaster1.xml" Id="R5cdf488d961241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ca182116a34e2e" /><Relationship Type="http://schemas.openxmlformats.org/officeDocument/2006/relationships/notesMaster" Target="/ppt/notesMasters/notesMaster1.xml" Id="R26ffbdf846b74f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14e2939ab44765" /><Relationship Type="http://schemas.openxmlformats.org/officeDocument/2006/relationships/notesMaster" Target="/ppt/notesMasters/notesMaster1.xml" Id="Ref94334b453243c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fee8fa95f184873" /><Relationship Type="http://schemas.openxmlformats.org/officeDocument/2006/relationships/notesMaster" Target="/ppt/notesMasters/notesMaster1.xml" Id="Rf448b3c2f09a42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afcbdc4d6c4ee6" /><Relationship Type="http://schemas.openxmlformats.org/officeDocument/2006/relationships/notesMaster" Target="/ppt/notesMasters/notesMaster1.xml" Id="R5e704013095f43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37d008cbda43a9" /><Relationship Type="http://schemas.openxmlformats.org/officeDocument/2006/relationships/notesMaster" Target="/ppt/notesMasters/notesMaster1.xml" Id="Rb3f91445e9834e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a9569153704aa7" /><Relationship Type="http://schemas.openxmlformats.org/officeDocument/2006/relationships/notesMaster" Target="/ppt/notesMasters/notesMaster1.xml" Id="R77ef1a91d23b4d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Ruhana AI positioning: a website-native video agent for sales and customer support.</a:t>
            </a:r>
          </a:p>
          <a:p xmlns:a="http://schemas.openxmlformats.org/drawingml/2006/main">
            <a:r>
              <a:t>The cover follows the supplied Cervana composition while using original Ruhana artwork and branding.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Qualtrics estimated $3.8 trillion in global sales at risk from poor customer experiences in 2025: https://www.qualtrics.com/articles/customer-experience/trillion-sales-at-risk-2025/</a:t>
            </a:r>
          </a:p>
          <a:p xmlns:a="http://schemas.openxmlformats.org/drawingml/2006/main">
            <a:r>
              <a:t>Capgemini reports that 55% of consumers would leave a brand after poor service and 71% prefer human agents for empathy: https://www.capgemini.com/wp-content/uploads/2025/03/Final-Web-Version-Report-Customer-Service-Transformation.pdf</a:t>
            </a:r>
          </a:p>
          <a:p xmlns:a="http://schemas.openxmlformats.org/drawingml/2006/main">
            <a:r>
              <a:t>No universal conversion uplift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Capabilities reflect the product architecture and intended deployment experience.</a:t>
            </a:r>
          </a:p>
          <a:p xmlns:a="http://schemas.openxmlformats.org/drawingml/2006/main">
            <a:r>
              <a:t>The solution artwork is original, generated for Ruhana, and not copied from a competitor.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timing argument is based on recent improvements in real-time video, voice and language models.</a:t>
            </a:r>
          </a:p>
          <a:p xmlns:a="http://schemas.openxmlformats.org/drawingml/2006/main">
            <a:r>
              <a:t>The business claim is directional and intentionally avoids a fabricated uplift percentage.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Grand View Research estimates the avatar-based online customer-service market at $267.9M in 2025 and $2.3728B in 2033, a 31.2% CAGR: https://www.grandviewresearch.com/horizon/statistics/ai-avatar-market/application/avatar-based-online-customer-service/global</a:t>
            </a:r>
          </a:p>
          <a:p xmlns:a="http://schemas.openxmlformats.org/drawingml/2006/main">
            <a:r>
              <a:t>Grand View Research estimates the conversational AI market at $41.39B by 2030: https://www.prnewswire.com/news-releases/conversational-ai-market-to-be-worth-41-39-billion-by-2030-at-cagr-23-7---grand-view-research-inc-302452404.html</a:t>
            </a:r>
          </a:p>
          <a:p xmlns:a="http://schemas.openxmlformats.org/drawingml/2006/main">
            <a:r>
              <a:t>SAM is the 2030 interpolation of the cited avatar customer-service market. SOM is an illustrative 1% objective, not a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segments are an initial go-to-market focus, not claimed customers.</a:t>
            </a:r>
          </a:p>
          <a:p xmlns:a="http://schemas.openxmlformats.org/drawingml/2006/main">
            <a:r>
              <a:t>Regulated deployment is positioned as an enterprise pathway subject to implementation and contractual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Competitor framing is based on public product positioning and pricing pages reviewed in September 2026.</a:t>
            </a:r>
          </a:p>
          <a:p xmlns:a="http://schemas.openxmlformats.org/drawingml/2006/main">
            <a:r>
              <a:t>Anam: https://anam.ai/ and https://anam.ai/pricing</a:t>
            </a:r>
          </a:p>
          <a:p xmlns:a="http://schemas.openxmlformats.org/drawingml/2006/main">
            <a:r>
              <a:t>LemonSlice: https://lemonslice.com/</a:t>
            </a:r>
          </a:p>
          <a:p xmlns:a="http://schemas.openxmlformats.org/drawingml/2006/main">
            <a:r>
              <a:t>Tavus: https://www.tavus.io/</a:t>
            </a:r>
          </a:p>
          <a:p xmlns:a="http://schemas.openxmlformats.org/drawingml/2006/main">
            <a:r>
              <a:t>The slide describes product focus, not a claim that competitors cannot add similar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five native stages summarize Ruhana's website-to-outcome architecture.</a:t>
            </a:r>
          </a:p>
          <a:p xmlns:a="http://schemas.openxmlformats.org/drawingml/2006/main">
            <a:r>
              <a:t>The diagram is intentionally simple and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business model: paid subscriptions plus optional setup or private-deployment work.</a:t>
            </a:r>
          </a:p>
          <a:p xmlns:a="http://schemas.openxmlformats.org/drawingml/2006/main">
            <a:r>
              <a:t>Prices are product recommendations, not current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is a recommended launch structure and has not been presented as historical sales.</a:t>
            </a:r>
          </a:p>
          <a:p xmlns:a="http://schemas.openxmlformats.org/drawingml/2006/main">
            <a:r>
              <a:t>Modeled pooled production cost is $0.13 per connected minute.</a:t>
            </a:r>
          </a:p>
          <a:p xmlns:a="http://schemas.openxmlformats.org/drawingml/2006/main">
            <a:r>
              <a:t>At full included usage, modeled gross margins are approximately 66.7%, 59.7%, 55.3% and 54.5%.</a:t>
            </a:r>
          </a:p>
          <a:p xmlns:a="http://schemas.openxmlformats.org/drawingml/2006/main">
            <a:r>
              <a:t>OpenAI GPT-5.6 Terra pricing used in the model is $2/M input tokens, $0.20/M cached input and $12/M output: https://developers.openai.com/api/docs/models/gpt-5.6-terra</a:t>
            </a:r>
          </a:p>
          <a:p xmlns:a="http://schemas.openxmlformats.org/drawingml/2006/main">
            <a:r>
              <a:t>Competitive context: https://anam.ai/pricing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financial figures are an illustrative one-year management base case, not actual results.</a:t>
            </a:r>
          </a:p>
          <a:p xmlns:a="http://schemas.openxmlformats.org/drawingml/2006/main">
            <a:r>
              <a:t>The model assumes a paid-only mix, pooled unit cost near $0.13 per connected minute and gross margin maintained at or above 50%.</a:t>
            </a:r>
          </a:p>
          <a:p xmlns:a="http://schemas.openxmlformats.org/drawingml/2006/main">
            <a:r>
              <a:t>Operating spend is illustrative and includes product, engineering, go-to-market and general operations.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differentiation is Ruhana's product thesis, not a patent or permanent exclusivity claim.</a:t>
            </a:r>
          </a:p>
          <a:p xmlns:a="http://schemas.openxmlformats.org/drawingml/2006/main">
            <a:r>
              <a:t>Gartner notes that agents need organizational semantics and context to deliver reliable outcomes: https://www.gartner.com/en/newsroom/press-releases/2026-05-11-gartner-says-lack-of-semantics-causes-inaccurate-artificial-intelligence-agents-and-wasted-spending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Built milestones reflect the current repository and public product state.</a:t>
            </a:r>
          </a:p>
          <a:p xmlns:a="http://schemas.openxmlformats.org/drawingml/2006/main">
            <a:r>
              <a:t>Pilot, partner and paid-deployment milestones are plans, not completed traction.</a:t>
            </a:r>
          </a:p>
          <a:p xmlns:a="http://schemas.openxmlformats.org/drawingml/2006/main">
            <a:r>
              <a:t>Formal dates should be refreshed before external circulation.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Contributor names reflect current repository history and user-provided ownership.</a:t>
            </a:r>
          </a:p>
          <a:p xmlns:a="http://schemas.openxmlformats.org/drawingml/2006/main">
            <a:r>
              <a:t>Contribution areas are working labels. Confirm formal titles before external circulation.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e226e6c014e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eef1c9b8ac4bc2" /><Relationship Type="http://schemas.openxmlformats.org/officeDocument/2006/relationships/slideLayout" Target="/ppt/slideLayouts/slideLayout1.xml" Id="R547d487186f64d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7d487186f64d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uhana Monochrome">
      <a:dk1>
        <a:srgbClr val="0B0C0C"/>
      </a:dk1>
      <a:lt1>
        <a:srgbClr val="FFFFFF"/>
      </a:lt1>
      <a:dk2>
        <a:srgbClr val="17191A"/>
      </a:dk2>
      <a:lt2>
        <a:srgbClr val="F2F3F3"/>
      </a:lt2>
      <a:accent1>
        <a:srgbClr val="0B0C0C"/>
      </a:accent1>
      <a:accent2>
        <a:srgbClr val="666A6C"/>
      </a:accent2>
      <a:accent3>
        <a:srgbClr val="7D9EAA"/>
      </a:accent3>
      <a:accent4>
        <a:srgbClr val="D8895A"/>
      </a:accent4>
      <a:accent5>
        <a:srgbClr val="E7E9EA"/>
      </a:accent5>
      <a:accent6>
        <a:srgbClr val="A8ACAE"/>
      </a:accent6>
      <a:hlink>
        <a:srgbClr val="7D9EAA"/>
      </a:hlink>
      <a:folHlink>
        <a:srgbClr val="666A6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uhana Monochro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0f56b12d749d1" /><Relationship Type="http://schemas.openxmlformats.org/officeDocument/2006/relationships/image" Target="/ppt/media/image.png" Id="R72cf43806cdf4b57" /><Relationship Type="http://schemas.openxmlformats.org/officeDocument/2006/relationships/image" Target="/ppt/media/image.svg" Id="Rcb5ebf7a03e64f7c" /><Relationship Type="http://schemas.openxmlformats.org/officeDocument/2006/relationships/image" Target="/ppt/media/image2.png" Id="R60623037630c4133" /><Relationship Type="http://schemas.openxmlformats.org/officeDocument/2006/relationships/image" Target="/ppt/media/image3.png" Id="Ra6b0968c5fa64366" /><Relationship Type="http://schemas.openxmlformats.org/officeDocument/2006/relationships/image" Target="/ppt/media/image2.svg" Id="R4119608c071d40a3" /><Relationship Type="http://schemas.openxmlformats.org/officeDocument/2006/relationships/notesSlide" Target="/ppt/notesSlides/notesSlide1.xml" Id="R22a0e01829e147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dc6e1d99a4101" /><Relationship Type="http://schemas.openxmlformats.org/officeDocument/2006/relationships/image" Target="/ppt/media/image4.png" Id="R21b74405a0334aa3" /><Relationship Type="http://schemas.openxmlformats.org/officeDocument/2006/relationships/image" Target="/ppt/media/image3.svg" Id="R207b1c185ea54086" /><Relationship Type="http://schemas.openxmlformats.org/officeDocument/2006/relationships/notesSlide" Target="/ppt/notesSlides/notesSlide2.xml" Id="Rf5381fdc5cd841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40581f5494bd7" /><Relationship Type="http://schemas.openxmlformats.org/officeDocument/2006/relationships/image" Target="/ppt/media/image5.png" Id="Rd129a33a37394ef6" /><Relationship Type="http://schemas.openxmlformats.org/officeDocument/2006/relationships/image" Target="/ppt/media/image4.svg" Id="R69e633bb64c743dd" /><Relationship Type="http://schemas.openxmlformats.org/officeDocument/2006/relationships/image" Target="/ppt/media/image6.png" Id="Rf3ffe0a6137a4a82" /><Relationship Type="http://schemas.openxmlformats.org/officeDocument/2006/relationships/notesSlide" Target="/ppt/notesSlides/notesSlide3.xml" Id="Rb5550aa6a35e46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cd6c35d72b4528" /><Relationship Type="http://schemas.openxmlformats.org/officeDocument/2006/relationships/image" Target="/ppt/media/image7.png" Id="R1ae08ea0be354006" /><Relationship Type="http://schemas.openxmlformats.org/officeDocument/2006/relationships/image" Target="/ppt/media/image5.svg" Id="R5c7485dc63c041e1" /><Relationship Type="http://schemas.openxmlformats.org/officeDocument/2006/relationships/image" Target="/ppt/media/image8.png" Id="R85872177fcd549ca" /><Relationship Type="http://schemas.openxmlformats.org/officeDocument/2006/relationships/notesSlide" Target="/ppt/notesSlides/notesSlide4.xml" Id="Rfaa3a2efe48246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ccc2673f6409d" /><Relationship Type="http://schemas.openxmlformats.org/officeDocument/2006/relationships/image" Target="/ppt/media/image9.png" Id="Rc4b6005c267e42d1" /><Relationship Type="http://schemas.openxmlformats.org/officeDocument/2006/relationships/image" Target="/ppt/media/image6.svg" Id="R55ac6503bf0f4284" /><Relationship Type="http://schemas.openxmlformats.org/officeDocument/2006/relationships/notesSlide" Target="/ppt/notesSlides/notesSlide5.xml" Id="Rb7bd634f24cc44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3600e129148c0" /><Relationship Type="http://schemas.openxmlformats.org/officeDocument/2006/relationships/image" Target="/ppt/media/image10.png" Id="R9cb7199ef26e4b45" /><Relationship Type="http://schemas.openxmlformats.org/officeDocument/2006/relationships/image" Target="/ppt/media/image7.svg" Id="R8ab9003f1fc54b4b" /><Relationship Type="http://schemas.openxmlformats.org/officeDocument/2006/relationships/image" Target="/ppt/media/image11.png" Id="R8a2aa1a3d92c40a8" /><Relationship Type="http://schemas.openxmlformats.org/officeDocument/2006/relationships/notesSlide" Target="/ppt/notesSlides/notesSlide6.xml" Id="R46c740959ae945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604a58b5b4b32" /><Relationship Type="http://schemas.openxmlformats.org/officeDocument/2006/relationships/image" Target="/ppt/media/image12.png" Id="R1a260bb429624419" /><Relationship Type="http://schemas.openxmlformats.org/officeDocument/2006/relationships/image" Target="/ppt/media/image8.svg" Id="Rffd8842dd6554b39" /><Relationship Type="http://schemas.openxmlformats.org/officeDocument/2006/relationships/notesSlide" Target="/ppt/notesSlides/notesSlide7.xml" Id="Rfdd704b050eb41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2494878844d3d" /><Relationship Type="http://schemas.openxmlformats.org/officeDocument/2006/relationships/image" Target="/ppt/media/image13.png" Id="Rec9d254f7c234879" /><Relationship Type="http://schemas.openxmlformats.org/officeDocument/2006/relationships/image" Target="/ppt/media/image9.svg" Id="R5510a47bd4384d81" /><Relationship Type="http://schemas.openxmlformats.org/officeDocument/2006/relationships/notesSlide" Target="/ppt/notesSlides/notesSlide8.xml" Id="R81afdb37a8d641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b27e9bfbd4a2b" /><Relationship Type="http://schemas.openxmlformats.org/officeDocument/2006/relationships/image" Target="/ppt/media/image14.png" Id="Rb6ab69dfe9d048ed" /><Relationship Type="http://schemas.openxmlformats.org/officeDocument/2006/relationships/image" Target="/ppt/media/image10.svg" Id="R077b7be5742b452e" /><Relationship Type="http://schemas.openxmlformats.org/officeDocument/2006/relationships/image" Target="/ppt/media/image15.png" Id="R54928413a43846ab" /><Relationship Type="http://schemas.openxmlformats.org/officeDocument/2006/relationships/notesSlide" Target="/ppt/notesSlides/notesSlide9.xml" Id="R60a5a772566045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76b9886424e71" /><Relationship Type="http://schemas.openxmlformats.org/officeDocument/2006/relationships/image" Target="/ppt/media/image16.png" Id="Rdca90d071160493f" /><Relationship Type="http://schemas.openxmlformats.org/officeDocument/2006/relationships/image" Target="/ppt/media/image11.svg" Id="Ra79aae44ccbf47bb" /><Relationship Type="http://schemas.openxmlformats.org/officeDocument/2006/relationships/notesSlide" Target="/ppt/notesSlides/notesSlide10.xml" Id="Rc93d70d38dbc42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4b3f34c124926" /><Relationship Type="http://schemas.openxmlformats.org/officeDocument/2006/relationships/image" Target="/ppt/media/image17.png" Id="Rf2480af71fb94849" /><Relationship Type="http://schemas.openxmlformats.org/officeDocument/2006/relationships/image" Target="/ppt/media/image12.svg" Id="R20ae9b31b94a4340" /><Relationship Type="http://schemas.openxmlformats.org/officeDocument/2006/relationships/notesSlide" Target="/ppt/notesSlides/notesSlide11.xml" Id="Rbabbc9e2ab974a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f16293c814cb1" /><Relationship Type="http://schemas.openxmlformats.org/officeDocument/2006/relationships/image" Target="/ppt/media/image18.png" Id="Rc2a7fdf4c5164546" /><Relationship Type="http://schemas.openxmlformats.org/officeDocument/2006/relationships/image" Target="/ppt/media/image13.svg" Id="R6a87ae70465044f8" /><Relationship Type="http://schemas.openxmlformats.org/officeDocument/2006/relationships/image" Target="/ppt/media/image19.png" Id="Raa8f244619c84d2b" /><Relationship Type="http://schemas.openxmlformats.org/officeDocument/2006/relationships/notesSlide" Target="/ppt/notesSlides/notesSlide12.xml" Id="R5d47c86d6b204e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21a19d7104f91" /><Relationship Type="http://schemas.openxmlformats.org/officeDocument/2006/relationships/image" Target="/ppt/media/image20.png" Id="R9e72e6bab6c6410d" /><Relationship Type="http://schemas.openxmlformats.org/officeDocument/2006/relationships/image" Target="/ppt/media/image14.svg" Id="Rd6a863c42e5240e2" /><Relationship Type="http://schemas.openxmlformats.org/officeDocument/2006/relationships/image" Target="/ppt/media/image21.png" Id="R404d8ef66ff749bf" /><Relationship Type="http://schemas.openxmlformats.org/officeDocument/2006/relationships/notesSlide" Target="/ppt/notesSlides/notesSlide13.xml" Id="R7344c4f2b1e64f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546290f6441cf" /><Relationship Type="http://schemas.openxmlformats.org/officeDocument/2006/relationships/image" Target="/ppt/media/image22.png" Id="Rd562e56c07dc4020" /><Relationship Type="http://schemas.openxmlformats.org/officeDocument/2006/relationships/image" Target="/ppt/media/image15.svg" Id="Rfa9ac4a28a30497b" /><Relationship Type="http://schemas.openxmlformats.org/officeDocument/2006/relationships/image" Target="/ppt/media/image23.png" Id="R9ac19184c9c14974" /><Relationship Type="http://schemas.openxmlformats.org/officeDocument/2006/relationships/notesSlide" Target="/ppt/notesSlides/notesSlide14.xml" Id="Ra158675bf2d940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f43806cdf4b57">
            <a:extLst>
              <a:ext uri="{96DAC541-7B7A-43D3-8B79-37D633B846F1}">
                <asvg:svgBlip xmlns:asvg="http://schemas.microsoft.com/office/drawing/2016/SVG/main" r:embed="Rcb5ebf7a03e64f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23037630c4133"/>
          <a:stretch xmlns:a="http://schemas.openxmlformats.org/drawingml/2006/main"/>
        </p:blipFill>
        <p:spPr>
          <a:xfrm xmlns:a="http://schemas.openxmlformats.org/drawingml/2006/main">
            <a:off x="342900" y="1809944"/>
            <a:ext cx="6667500" cy="3752463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0968c5fa64366">
            <a:extLst>
              <a:ext uri="{96DAC541-7B7A-43D3-8B79-37D633B846F1}">
                <asvg:svgBlip xmlns:asvg="http://schemas.microsoft.com/office/drawing/2016/SVG/main" r:embed="R4119608c071d40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29550" y="2038350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F1A22-731B-4015-A221-830865D0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2407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A6269-FD8F-4186-91E0-C3A089CE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542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The AI Video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4781B-C8A8-47B4-A671-8F077729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7667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31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for Customer Success.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3CE05-B71E-48BF-B666-295E3627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8101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A8ACA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A8ACAE"/>
                </a:solidFill>
                <a:latin typeface="Arial"/>
                <a:ea typeface="Arial"/>
                <a:cs typeface="Arial"/>
              </a:rPr>
              <a:t>Product deck</a:t>
            </a:r>
          </a:p>
        </p:txBody>
      </p:sp>
    </p:spTree>
    <p:extLst>
      <p:ext uri="{BB962C8B-B14F-4D97-AF65-F5344CB8AC3E}">
        <p14:creationId xmlns:p14="http://schemas.microsoft.com/office/powerpoint/2010/main" val="1563528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7D23FF-22E2-4350-9F49-95930DF9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74405a0334aa3">
            <a:extLst>
              <a:ext uri="{96DAC541-7B7A-43D3-8B79-37D633B846F1}">
                <asvg:svgBlip xmlns:asvg="http://schemas.microsoft.com/office/drawing/2016/SVG/main" r:embed="R207b1c185ea540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63EDF-028C-4185-A9A9-03B15FED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C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D66C7-D648-4D8B-9D90-FE36CE35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81815-AB04-40A8-8C5B-D000FF9E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57350"/>
            <a:ext cx="5200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Businesses lose $3.8T in sales to poor customer experiences, while digital visitors leave without help.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6015B-4C0C-46C9-B7F2-6A18D4E1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219200" y="2657475"/>
            <a:ext cx="510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0CDC5-0BE3-48DC-9499-405D7594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66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C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560B5E-035B-4126-85C3-44ACA356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33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DC32F-63C9-40F2-AEC9-F4E743DA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57350"/>
            <a:ext cx="5200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Generic chatbots answer FAQs but cannot read the page, product or buying intent shaping each visit.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503C8-AEE4-48F6-984B-DF7ABDE4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658100" y="2657475"/>
            <a:ext cx="510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AD63E-9598-42EF-916F-C7E2BDAB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C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B4345-A859-4D7D-AC35-4D6F1551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DCC8F-3C81-41EE-A374-3B05022E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71850"/>
            <a:ext cx="5200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Visitors abandon slow, repetitive support before they reach a useful answer or a qualified human.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F1AFD-6244-488A-8890-FCE80DC2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219200" y="4371975"/>
            <a:ext cx="510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5C8E1-2781-47F4-B1DD-BB9B6DB2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81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C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4E89CD-467A-462E-A467-7926D004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AF710-2240-4F8F-A8EC-375429B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71850"/>
            <a:ext cx="5200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Teams connect separate avatar, voice, model and analytics tools, adding weeks of technical setup.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7EC0E-2899-4AF0-A6C7-8E8C8CB7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658100" y="4371975"/>
            <a:ext cx="510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37B46-5325-4A2F-BE95-744DCB97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C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8817D-11BF-4BE0-8292-19EDC5D1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BBE54E-1F3C-4AE5-A756-B8152D98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86350"/>
            <a:ext cx="5200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Financial and public teams need private deployment, retention controls and a clear path to people.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A906C-CE82-4E8D-B38D-9E9C566B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95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C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51557-7C62-4E9A-9C4A-72EC97D8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6ED20E-5538-4A95-8C7E-F8612260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86350"/>
            <a:ext cx="5200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Conversation counts show activity, but not which agent changed revenue, resolution or conversion.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BB714D-C64D-4ADC-9FF6-5E435C53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190500"/>
            <a:ext cx="1123950" cy="1123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75">
            <a:solidFill>
              <a:srgbClr val="E7E9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D29364-0FDD-4D6A-AB63-0281B82A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6000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E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1563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E8D571-F24C-49F2-B58B-90C89964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29a33a37394ef6">
            <a:extLst>
              <a:ext uri="{96DAC541-7B7A-43D3-8B79-37D633B846F1}">
                <asvg:svgBlip xmlns:asvg="http://schemas.microsoft.com/office/drawing/2016/SVG/main" r:embed="R69e633bb64c743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496B9-3847-4825-B995-54632A54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0970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Ruhana is a complete video agent for websites, built with voice, context, actions and analytics. No developer required.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38DCB-A617-4918-88A7-C3ADC822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172200" y="2209800"/>
            <a:ext cx="1352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89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274CD-C1AE-4615-BCAA-793D8207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32B86-D00B-4475-9062-90065FC6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998C4-AFAB-4237-BB52-08D5C215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81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Answers in real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C8D67-07CB-4703-8D9A-D5A2B858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527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Sales and support by voice or 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C275D-278F-4F0E-9642-3914899E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7FB8B-0D68-46A4-8B4B-CC1AE47E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91CEB-3B3E-478F-8F77-EB42C543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00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Understands the visit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C1588-23E5-45D4-9845-F67A4083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72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Reads the page, product and visitor journey.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00BE1-0C91-40A1-9A88-AA3D760B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638E4-B08D-43CB-BCDE-E46DAD0C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76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DB57F-0388-49BE-B780-3F00A489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Moves work forward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656BD-C7D8-4279-ABC3-4C29CC67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527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Qualifies, recommends, books and completes approved actions.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B6896-E7FF-44EA-A3BB-366FE112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38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D029D-45E5-490B-A48D-1C2AC0CA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9580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45070-FCC4-48CB-B229-52E27890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00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Deploys simply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0A8A33-65DC-40BC-9E6C-57147282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72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One website snippet connects the existing stack.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75265-D6C4-4B7B-A6E0-6296DCB9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10512-63F8-4202-B1C7-9A5AB2FA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266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7D9EAA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D9EA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7DF999-D125-4086-BE4A-6BEC9F29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81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Hands off cleanly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9EDAA0-2421-4342-80B8-7CA720E6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527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Concurrent multilingual sessions retain full context.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fe0a6137a4a82"/>
          <a:stretch xmlns:a="http://schemas.openxmlformats.org/drawingml/2006/main"/>
        </p:blipFill>
        <p:spPr>
          <a:xfrm xmlns:a="http://schemas.openxmlformats.org/drawingml/2006/main">
            <a:off x="10354621" y="4000500"/>
            <a:ext cx="2246008" cy="2619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479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F8758-43F5-43D1-A61F-5E57DCEF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08ea0be354006">
            <a:extLst>
              <a:ext uri="{96DAC541-7B7A-43D3-8B79-37D633B846F1}">
                <asvg:svgBlip xmlns:asvg="http://schemas.microsoft.com/office/drawing/2016/SVG/main" r:embed="R5c7485dc63c041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0A5F3-5CE4-470A-B3F5-CA98ABB7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9AD8EB-DC2D-4B12-8638-11A48A5E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2DF64-7862-4B77-8453-DD7D7F19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049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Real-time video models now feel natural enough for live sales and support.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6E2FC-D906-4850-87B0-05385465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CD5B6-5399-4999-A283-1D6F67DC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B4C6BE-6500-4BE9-AA06-31C83DB7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Voice models deliver low-latency speech across the languages buyers already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29732-AF17-4021-9C1B-5DA89E32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05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FDA1DA-AA34-441D-B21C-F981DE98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3F9F62-590C-4209-920E-F6A0D418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Website context supplies the product and journey details generic chatbots miss.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8D5D6-FAD6-4CB5-8A2B-9092831D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48B78-E8DE-474D-BEB0-402C66D9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6F6C9-4EC7-4DF7-AF11-7895A72E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053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Buyers increasingly expect immediate conversational help before deciding or leaving.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96BEC-81DF-4E8B-9B43-BE981611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38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093B3-5167-446E-B294-1AFCBEEF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266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D8895A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D8895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120838-729F-4BD1-BA72-16DBB17A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72150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Outcome analytics can connect each conversation to revenue, resolution or conversion.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BB404-17B4-44F7-9A7C-8201F3CF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096250" y="1571625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9E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DE1DD8-A399-4EA7-9A21-B3C964B4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763000" y="1857375"/>
            <a:ext cx="2762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C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9D570-494E-4935-8102-DB1A654E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620250" y="2143125"/>
            <a:ext cx="285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E9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22C38-983B-498D-B348-8ECB7169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504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2C944C-11BF-4D71-AEC0-E0801754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1790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AC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83F1AE-6AE2-4D1E-999C-B5D6EA11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076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72177fcd549ca"/>
          <a:stretch xmlns:a="http://schemas.openxmlformats.org/drawingml/2006/main"/>
        </p:blipFill>
        <p:spPr>
          <a:xfrm xmlns:a="http://schemas.openxmlformats.org/drawingml/2006/main">
            <a:off x="7010400" y="2587625"/>
            <a:ext cx="5810250" cy="387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51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A281D-1CF8-4D31-8299-2B306D88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Market Size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6005c267e42d1">
            <a:extLst>
              <a:ext uri="{96DAC541-7B7A-43D3-8B79-37D633B846F1}">
                <asvg:svgBlip xmlns:asvg="http://schemas.microsoft.com/office/drawing/2016/SVG/main" r:embed="R55ac6503bf0f42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45C1C-2760-41BD-8768-1EDE3D11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96250-306A-4203-8B87-98CD640D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F7334-0955-4B15-A27C-D1241D20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0512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8B8AC-38AD-490B-805D-D8B47FD7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581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TAM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148317-F2D0-4BC1-A62A-E708DC7B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38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SAM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E30AB-146A-4AB9-BE45-33DFF0D7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8A371-B9C7-4D1D-A900-2CD102D3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$</a:t>
            </a:r>
            <a:r>
              <a:rPr sz="345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41.4B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335D8-2397-45EA-B91C-30564C95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Global conversational AI by 2030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F9D6F4-64F3-4DEF-81DF-2C2E0E0B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10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$</a:t>
            </a:r>
            <a:r>
              <a:rPr sz="315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1.04B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73A7F-879F-4353-941C-022ADCA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9107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Avatar-led customer service by 2030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3294B-059F-4C77-B4FF-32185903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6237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$10.4M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2955DA-43AA-4051-B4FC-5159CEB8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952875"/>
            <a:ext cx="1657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1% of SAM in five years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7874DA-5CB4-4C17-9C26-207D57FD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686925" y="3905250"/>
            <a:ext cx="145732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895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7173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53D16C-060A-4E71-A5DB-B034E2F0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Target Market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b7199ef26e4b45">
            <a:extLst>
              <a:ext uri="{96DAC541-7B7A-43D3-8B79-37D633B846F1}">
                <asvg:svgBlip xmlns:asvg="http://schemas.microsoft.com/office/drawing/2016/SVG/main" r:embed="R8ab9003f1fc54b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4C356-B3BD-4A12-889D-8C83B2E7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495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Website-first teams where every missed conversation means lost revenue, unresolved support or a customer leaving without confidence.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5160E-69AA-4BA2-97EF-446D9A8E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14400" y="3333750"/>
            <a:ext cx="1466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895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aa1a3d92c40a8"/>
          <a:stretch xmlns:a="http://schemas.openxmlformats.org/drawingml/2006/main"/>
        </p:blipFill>
        <p:spPr>
          <a:xfrm xmlns:a="http://schemas.openxmlformats.org/drawingml/2006/main">
            <a:off x="1007269" y="3762375"/>
            <a:ext cx="4500563" cy="3000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CDE7E-2EB2-457F-AE3C-01E17AE6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71825"/>
            <a:ext cx="1943100" cy="194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DD14D-B721-4AF8-9C17-0CE9CC05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290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RUHANA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5EBA0-1077-43C2-8DDD-761E0C93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04950"/>
            <a:ext cx="13716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F2DCA-4D0A-404B-9E73-9CD788FA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335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E-commerce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51273-CC73-4848-9C77-0C404519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525000" y="1847850"/>
            <a:ext cx="9525" cy="2295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ACAE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55E28-472F-4603-9B1B-0BAB3F55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533650"/>
            <a:ext cx="13716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1F7D2-B89D-4BAD-81A7-06A19197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7622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7D9EA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D9EAA"/>
                </a:solidFill>
                <a:latin typeface="Arial"/>
                <a:ea typeface="Arial"/>
                <a:cs typeface="Arial"/>
              </a:rPr>
              <a:t>SaaS &amp;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874C0-447C-4BC4-B341-3C7D52BC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525000" y="2876550"/>
            <a:ext cx="2190750" cy="1266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9EAA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40474-6312-442A-B407-30CAB7B9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848225"/>
            <a:ext cx="13716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C7FD6-6A4B-428C-9828-39EE588F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0768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Finance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710B4-FDE7-474B-A1DC-E944DE15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525000" y="4143375"/>
            <a:ext cx="234315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ACAE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788C3-5958-4E15-9CCB-C3B86345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848350"/>
            <a:ext cx="13716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8786A1-8A89-4404-8336-8684CBE1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0769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Healthcare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48EBE8-751B-4406-9941-1777D491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525000" y="4143375"/>
            <a:ext cx="9525" cy="2047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ACAE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57A6F-036E-4BE2-8F5F-81CC88C3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48225"/>
            <a:ext cx="13716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7489B-2AB7-4B7A-A3E9-A082BD0D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0768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Hospitality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1BE698-C9EE-48F7-8FD2-898CFC1B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39000" y="4143375"/>
            <a:ext cx="228600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ACAE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008C8E-E3EF-424F-B525-D0F70CEF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46685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7D9EA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9EAA"/>
                </a:solidFill>
                <a:latin typeface="Arial"/>
                <a:ea typeface="Arial"/>
                <a:cs typeface="Arial"/>
              </a:rPr>
              <a:t>Warm interests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F3EF9-6520-4F0B-BF70-AFC34864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1658600" y="1724025"/>
            <a:ext cx="80010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9EA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53211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603BFF-93ED-489E-B940-3753554E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Competitive Landscape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60bb429624419">
            <a:extLst>
              <a:ext uri="{96DAC541-7B7A-43D3-8B79-37D633B846F1}">
                <asvg:svgBlip xmlns:asvg="http://schemas.microsoft.com/office/drawing/2016/SVG/main" r:embed="Rffd8842dd6554b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648F0-2E18-4F7C-AFB8-3920740B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191000" cy="4191000"/>
          </a:xfrm>
          <a:prstGeom xmlns:a="http://schemas.openxmlformats.org/drawingml/2006/main" prst="roundRect">
            <a:avLst>
              <a:gd name="adj" fmla="val 24545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FC190-8014-4977-A699-4251BD06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Competitors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ABE42-F236-454E-9B11-141432A0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2476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22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Anam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2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LemonSlice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22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Tavus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EC31D-1525-403E-8F94-C793E2D6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2571750" cy="2571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C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398C7-6114-4CEE-8CFF-038B5A71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861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Their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AEB76-49D5-4DB6-9FD0-55CE37DD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1950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Real-time avatars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Persona creation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Developer infrastructure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87266-F2E5-4754-822D-13C877A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3905250" cy="2333625"/>
          </a:xfrm>
          <a:prstGeom xmlns:a="http://schemas.openxmlformats.org/drawingml/2006/main" prst="roundRect">
            <a:avLst>
              <a:gd name="adj" fmla="val 35102"/>
            </a:avLst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1C1DEA-AADF-4CE6-AD54-1980FBAE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gaps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7938B-B20C-4C77-95C2-1EA2C2DE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276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7E9EA"/>
                </a:solidFill>
                <a:latin typeface="Arial"/>
                <a:ea typeface="Arial"/>
                <a:cs typeface="Arial"/>
              </a:rPr>
              <a:t>Limited page intent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7E9EA"/>
                </a:solidFill>
                <a:latin typeface="Arial"/>
                <a:ea typeface="Arial"/>
                <a:cs typeface="Arial"/>
              </a:rPr>
              <a:t>Actions need engineering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7E9EA"/>
                </a:solidFill>
                <a:latin typeface="Arial"/>
                <a:ea typeface="Arial"/>
                <a:cs typeface="Arial"/>
              </a:rPr>
              <a:t>Usage metrics, not outcomes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08FBF-B010-4FEB-9E8E-9186330A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4095750" cy="20955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12402-433B-4A97-AE56-1E7DF7CA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196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Ruhana advantage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2D49AF-ACB6-4069-9728-E6EE936D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314950"/>
            <a:ext cx="2857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Website context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Sales and support actions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3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Outcome analytics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436F5-3430-4AF6-AE1E-1447F14A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762500" y="3905250"/>
            <a:ext cx="47625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ACAE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43C48-7A40-48E5-9A40-EC75B258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10500" y="2619375"/>
            <a:ext cx="857250" cy="1133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895A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F1829-A5B6-4F39-841B-F1EC875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791450" y="4667250"/>
            <a:ext cx="78105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D9EAA"/>
            </a:solidFill>
            <a:prstDash val="dash"/>
          </a:ln>
        </p:spPr>
      </p:sp>
    </p:spTree>
    <p:extLst>
      <p:ext uri="{BB962C8B-B14F-4D97-AF65-F5344CB8AC3E}">
        <p14:creationId xmlns:p14="http://schemas.microsoft.com/office/powerpoint/2010/main" val="8130113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163A1-8E74-41C0-B628-A8EEDFEC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d254f7c234879">
            <a:extLst>
              <a:ext uri="{96DAC541-7B7A-43D3-8B79-37D633B846F1}">
                <asvg:svgBlip xmlns:asvg="http://schemas.microsoft.com/office/drawing/2016/SVG/main" r:embed="R5510a47bd4384d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BCD07-F092-43B5-9C6B-30C940AC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524000" y="3762375"/>
            <a:ext cx="10591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CAE"/>
            </a:solidFill>
            <a:prstDash val="dash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87E99-6BE3-4A54-803B-46200B52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Website event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F1251-06CE-48C3-901F-423BD5C3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6707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6ACC6-053B-4D05-A18E-31BBC146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F8D77-7F99-426A-B08D-F95125B4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Embed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A6232-C6BA-4FFC-873A-DC07125E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09800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Page + visitor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187A7-C722-470A-91AE-1AFAF96B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6707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FD0AA-7554-4DB8-B5EA-8C314F5D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623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E1C17-DB55-468E-86E9-A0FC2F2D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053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Context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82EEA-CC74-422B-9D8C-0797139E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09800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Live video conversation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678FD-7C2E-4153-8658-48ACE507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6707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E5408-01D1-497D-B340-8D54ED85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623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296A9-C883-4050-BD03-5AA6E795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053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Agent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4619B-CEBE-484B-A00A-1C0385C9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Approved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700B2-6763-4D21-8332-4A064C1B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6707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80BF9-656D-44F6-B013-C3743501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623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439FC-C0E7-48F3-8321-B2301B04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053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Integration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DF7E3-5FDC-462E-B9A2-5D8A15DB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209800"/>
            <a:ext cx="1981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Outcome recorded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0FB299-02E1-497A-AFE9-8D9B6966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67075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091005-0A3A-41F8-BC36-B26374CF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5623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D1E58-B903-4005-95EA-410407C7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7053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Analytics layer</a:t>
            </a:r>
          </a:p>
        </p:txBody>
      </p:sp>
    </p:spTree>
    <p:extLst>
      <p:ext uri="{BB962C8B-B14F-4D97-AF65-F5344CB8AC3E}">
        <p14:creationId xmlns:p14="http://schemas.microsoft.com/office/powerpoint/2010/main" val="1396239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51DD4-F67D-4EFC-8921-5AFD801A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Business Model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b69dfe9d048ed">
            <a:extLst>
              <a:ext uri="{96DAC541-7B7A-43D3-8B79-37D633B846F1}">
                <asvg:svgBlip xmlns:asvg="http://schemas.microsoft.com/office/drawing/2016/SVG/main" r:embed="R077b7be5742b45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28413a43846ab"/>
          <a:stretch xmlns:a="http://schemas.openxmlformats.org/drawingml/2006/main"/>
        </p:blipFill>
        <p:spPr>
          <a:xfrm xmlns:a="http://schemas.openxmlformats.org/drawingml/2006/main">
            <a:off x="95250" y="3095625"/>
            <a:ext cx="5286375" cy="3524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6B338-A0BA-4B10-BF9E-83BFEDF1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953125" y="1571625"/>
            <a:ext cx="59531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D9EA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86774-732A-42B3-9C66-2298334B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504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B3946-38F1-4DBF-96E1-B8A08F5F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575" y="1504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9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C5E8E-F717-4581-9E40-5E6FF922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24100"/>
            <a:ext cx="3143250" cy="3333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D5847-6FF8-49A5-824C-4C163125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One-time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87D3A0-9A7D-401E-8D18-22661FC3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337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$</a:t>
            </a:r>
            <a:r>
              <a:rPr sz="360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250+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A6033-3390-4C39-BA2F-6C9113E9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10050"/>
            <a:ext cx="2143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Private deployment</a:t>
            </a:r>
          </a:p>
          <a:p xmlns:a="http://schemas.openxmlformats.org/drawingml/2006/main">
            <a:pPr algn="ctr">
              <a:lnSpc>
                <a:spcPct val="122000"/>
              </a:lnSpc>
              <a:buNone/>
              <a:defRPr sz="13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or custom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A1372-6D02-4FA9-B6DD-CB434298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7850"/>
            <a:ext cx="3905250" cy="4191000"/>
          </a:xfrm>
          <a:prstGeom xmlns:a="http://schemas.openxmlformats.org/drawingml/2006/main" prst="roundRect">
            <a:avLst>
              <a:gd name="adj" fmla="val 31707"/>
            </a:avLst>
          </a:prstGeom>
          <a:solidFill xmlns:a="http://schemas.openxmlformats.org/drawingml/2006/main">
            <a:srgbClr val="1719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DDFF2D-168C-4BA9-8AF1-90247A41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24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Monthly subscription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CA86E-97EE-4AA5-83F4-0CDBC5DC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238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Launch $39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Growth $129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Scale $349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Enterprise $999+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AA931-91B6-43C9-8329-6FE86BDD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038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275" b="0" i="0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E7E9EA"/>
                </a:solidFill>
                <a:latin typeface="Arial"/>
                <a:ea typeface="Arial"/>
                <a:cs typeface="Arial"/>
              </a:rPr>
              <a:t>Minutes included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0" i="0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E7E9EA"/>
                </a:solidFill>
                <a:latin typeface="Arial"/>
                <a:ea typeface="Arial"/>
                <a:cs typeface="Arial"/>
              </a:rPr>
              <a:t>Overage only when used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275" b="0" i="0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E7E9EA"/>
                </a:solidFill>
                <a:latin typeface="Arial"/>
                <a:ea typeface="Arial"/>
                <a:cs typeface="Arial"/>
              </a:rPr>
              <a:t>No free tier</a:t>
            </a:r>
          </a:p>
        </p:txBody>
      </p:sp>
    </p:spTree>
    <p:extLst>
      <p:ext uri="{BB962C8B-B14F-4D97-AF65-F5344CB8AC3E}">
        <p14:creationId xmlns:p14="http://schemas.microsoft.com/office/powerpoint/2010/main" val="2502765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1C450F-32C5-4378-86E4-7EC49B72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Plans &amp; Pricing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90d071160493f">
            <a:extLst>
              <a:ext uri="{96DAC541-7B7A-43D3-8B79-37D633B846F1}">
                <asvg:svgBlip xmlns:asvg="http://schemas.microsoft.com/office/drawing/2016/SVG/main" r:embed="Ra79aae44ccbf47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7F1A9-F5D1-4184-8DC1-0E424157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2914650" cy="5429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BE0BC-2D52-4209-B8A4-89119051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Launch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11B30-BF62-4091-85CE-516B434D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241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$</a:t>
            </a:r>
            <a:r>
              <a:rPr sz="420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ECAA0-45F3-43A1-B080-A14BA7F7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81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100 min / month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DB881-49E7-4B32-9690-8961D46D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90575" y="3829050"/>
            <a:ext cx="236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C1CFE-B503-4CB6-9CB3-F7FE73CA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95750"/>
            <a:ext cx="238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1 agent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1 website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Transcripts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Outcome analytics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DC01E4-3A7E-401A-879E-79A85D88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229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$0.32 / extra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1F028-E6B8-4193-8550-B6FFE6F2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04950"/>
            <a:ext cx="2914650" cy="5429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AE93C-A1ED-4546-B45E-FD1EC8F8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581400" y="1714500"/>
            <a:ext cx="9525" cy="499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A7FF7-3D06-4F30-8CE8-31D6E931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04950"/>
            <a:ext cx="29146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D9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E8AD8B-BEC6-4943-8556-AF8E89999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859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3C605-FD2E-46DC-992D-1A9F7430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71750"/>
            <a:ext cx="241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$</a:t>
            </a:r>
            <a:r>
              <a:rPr sz="420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129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84D1CC-3221-4E06-A544-F186F1A0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81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400 min / month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7A1789-8E74-4982-A785-BC8774A5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971925" y="3829050"/>
            <a:ext cx="236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D6005-974C-43C9-8E0E-081BF2C5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095750"/>
            <a:ext cx="238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3 agents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3 websites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Integrations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Journey funnels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Priority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88B95-A07F-46DA-B5C0-06D35291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6229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7D9EA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D9EAA"/>
                </a:solidFill>
                <a:latin typeface="Arial"/>
                <a:ea typeface="Arial"/>
                <a:cs typeface="Arial"/>
              </a:rPr>
              <a:t>$0.29 / extra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6F553-89B2-46C3-BF44-26F20074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04950"/>
            <a:ext cx="2914650" cy="5429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9981C-6F9D-4B4B-8ECE-34D4DEE4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762750" y="1714500"/>
            <a:ext cx="9525" cy="499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C5811C-0702-401D-BA5A-6CC6A048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859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BB34B1-09B8-4F77-924D-EAFBC656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71750"/>
            <a:ext cx="241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$</a:t>
            </a:r>
            <a:r>
              <a:rPr sz="420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349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60CEC-7999-4D56-B433-3C764CEC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81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1,200 min / month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B15BC-12E7-4528-86C7-CBF11BB7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153275" y="3829050"/>
            <a:ext cx="236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D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AEBB2A-E2B6-4AB3-9948-2EDD2DF0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238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10 agents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10 websites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Webhooks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Revenue attribution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Launch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BEBCB7-3E13-4390-85EE-BA7F3621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6229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$0.27 / extra min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C33DCC-5258-461B-B511-C356D182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504950"/>
            <a:ext cx="2914650" cy="54292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58FDB6-D1AC-48A0-970B-769C175B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944100" y="1714500"/>
            <a:ext cx="9525" cy="499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9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97A174-A171-42E0-99C7-F0C926FC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88595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Enterprise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122347-9647-4A61-ABA7-AEEE0B43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71750"/>
            <a:ext cx="241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$</a:t>
            </a:r>
            <a:r>
              <a:rPr sz="4200" b="1">
                <a:solidFill>
                  <a:srgbClr val="0B0C0C"/>
                </a:solidFill>
                <a:latin typeface="Arial"/>
                <a:ea typeface="Arial"/>
                <a:cs typeface="Arial"/>
              </a:rPr>
              <a:t>999+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ED022D-1F33-4EAA-8DD9-737BAC4B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381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3,500+ min / month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E722DC-C629-4976-AD63-1377AFF2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334625" y="3829050"/>
            <a:ext cx="2362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C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AC5AED-F252-494C-BEA9-E62EDCFB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95750"/>
            <a:ext cx="238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Custom capacity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Private deployment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SSO + SLA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75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— Success engineering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98EA01-6E02-4CBC-9986-4EA19279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229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From $0.26 / extra min</a:t>
            </a:r>
          </a:p>
        </p:txBody>
      </p:sp>
    </p:spTree>
    <p:extLst>
      <p:ext uri="{BB962C8B-B14F-4D97-AF65-F5344CB8AC3E}">
        <p14:creationId xmlns:p14="http://schemas.microsoft.com/office/powerpoint/2010/main" val="8513707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742F4-547A-40C4-B209-04C81825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Projected Financials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80af71fb94849">
            <a:extLst>
              <a:ext uri="{96DAC541-7B7A-43D3-8B79-37D633B846F1}">
                <asvg:svgBlip xmlns:asvg="http://schemas.microsoft.com/office/drawing/2016/SVG/main" r:embed="R20ae9b31b94a43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"/>
          <p:cNvGraphicFramePr/>
          <p:nvPr/>
        </p:nvGraphicFramePr>
        <p:xfrm>
          <a:off xmlns:a="http://schemas.openxmlformats.org/drawingml/2006/main" x="590550" y="1466850"/>
          <a:ext xmlns:a="http://schemas.openxmlformats.org/drawingml/2006/main" cx="125349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809750"/>
                <a:gridCol w="1809750"/>
                <a:gridCol w="1809750"/>
                <a:gridCol w="1809750"/>
                <a:gridCol w="1962150"/>
              </a:tblGrid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5250" marR="95250" marT="95250" marB="95250" anchor="ctr">
                    <a:solidFill>
                      <a:srgbClr val="1719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Q1</a:t>
                      </a:r>
                    </a:p>
                  </a:txBody>
                  <a:tcPr marL="95250" marR="95250" marT="95250" marB="95250" anchor="ctr">
                    <a:solidFill>
                      <a:srgbClr val="1719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Q2</a:t>
                      </a:r>
                    </a:p>
                  </a:txBody>
                  <a:tcPr marL="95250" marR="95250" marT="95250" marB="95250" anchor="ctr">
                    <a:solidFill>
                      <a:srgbClr val="1719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Q3</a:t>
                      </a:r>
                    </a:p>
                  </a:txBody>
                  <a:tcPr marL="95250" marR="95250" marT="95250" marB="95250" anchor="ctr">
                    <a:solidFill>
                      <a:srgbClr val="1719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Q4</a:t>
                      </a:r>
                    </a:p>
                  </a:txBody>
                  <a:tcPr marL="95250" marR="95250" marT="95250" marB="95250" anchor="ctr">
                    <a:solidFill>
                      <a:srgbClr val="1719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 1</a:t>
                      </a:r>
                    </a:p>
                  </a:txBody>
                  <a:tcPr marL="95250" marR="95250" marT="95250" marB="95250" anchor="ctr">
                    <a:solidFill>
                      <a:srgbClr val="17191A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New customers</a:t>
                      </a:r>
                    </a:p>
                  </a:txBody>
                  <a:tcPr marL="1524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130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Total active</a:t>
                      </a:r>
                    </a:p>
                  </a:txBody>
                  <a:tcPr marL="1524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35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130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130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SUBSCRIPTION REVENUE</a:t>
                      </a:r>
                    </a:p>
                  </a:txBody>
                  <a:tcPr marL="152400" marR="114300" marT="85725" marB="85725" anchor="ctr"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$2.0k</a:t>
                      </a:r>
                    </a:p>
                  </a:txBody>
                  <a:tcPr marL="76200" marR="76200" marT="85725" marB="85725" anchor="ctr"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$7.0k</a:t>
                      </a:r>
                    </a:p>
                  </a:txBody>
                  <a:tcPr marL="76200" marR="76200" marT="85725" marB="85725" anchor="ctr"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$18.0k</a:t>
                      </a:r>
                    </a:p>
                  </a:txBody>
                  <a:tcPr marL="76200" marR="76200" marT="85725" marB="85725" anchor="ctr"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$36.0k</a:t>
                      </a:r>
                    </a:p>
                  </a:txBody>
                  <a:tcPr marL="76200" marR="76200" marT="85725" marB="85725" anchor="ctr">
                    <a:solidFill>
                      <a:srgbClr val="F2F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$63.0k</a:t>
                      </a:r>
                    </a:p>
                  </a:txBody>
                  <a:tcPr marL="76200" marR="76200" marT="85725" marB="85725" anchor="ctr">
                    <a:solidFill>
                      <a:srgbClr val="F2F3F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Setup and services</a:t>
                      </a:r>
                    </a:p>
                  </a:txBody>
                  <a:tcPr marL="1524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$1.0k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$2.0k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$3.0k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$4.0k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$10.0k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Total revenue</a:t>
                      </a:r>
                    </a:p>
                  </a:txBody>
                  <a:tcPr marL="152400" marR="114300" marT="85725" marB="85725" anchor="ctr"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$3.0k</a:t>
                      </a:r>
                    </a:p>
                  </a:txBody>
                  <a:tcPr marL="76200" marR="76200" marT="85725" marB="85725" anchor="ctr"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$9.0k</a:t>
                      </a:r>
                    </a:p>
                  </a:txBody>
                  <a:tcPr marL="76200" marR="76200" marT="85725" marB="85725" anchor="ctr"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$21.0k</a:t>
                      </a:r>
                    </a:p>
                  </a:txBody>
                  <a:tcPr marL="76200" marR="76200" marT="85725" marB="85725" anchor="ctr"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$40.0k</a:t>
                      </a:r>
                    </a:p>
                  </a:txBody>
                  <a:tcPr marL="76200" marR="76200" marT="85725" marB="85725" anchor="ctr">
                    <a:solidFill>
                      <a:srgbClr val="E9F0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$73.0k</a:t>
                      </a:r>
                    </a:p>
                  </a:txBody>
                  <a:tcPr marL="76200" marR="76200" marT="85725" marB="85725" anchor="ctr">
                    <a:solidFill>
                      <a:srgbClr val="E9F0F2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Variable cost</a:t>
                      </a:r>
                    </a:p>
                  </a:txBody>
                  <a:tcPr marL="1524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$1.5k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$4.0k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$9.4k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$18.0k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$32.9k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Operating spend</a:t>
                      </a:r>
                    </a:p>
                  </a:txBody>
                  <a:tcPr marL="1524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$18.0k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$24.0k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$32.0k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$45.0k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$119.0k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Operating result</a:t>
                      </a:r>
                    </a:p>
                  </a:txBody>
                  <a:tcPr marL="152400" marR="114300" marT="85725" marB="85725" anchor="ctr">
                    <a:solidFill>
                      <a:srgbClr val="F7EE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($16.5k)</a:t>
                      </a:r>
                    </a:p>
                  </a:txBody>
                  <a:tcPr marL="76200" marR="76200" marT="85725" marB="85725" anchor="ctr">
                    <a:solidFill>
                      <a:srgbClr val="F7EE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($19.0k)</a:t>
                      </a:r>
                    </a:p>
                  </a:txBody>
                  <a:tcPr marL="76200" marR="76200" marT="85725" marB="85725" anchor="ctr">
                    <a:solidFill>
                      <a:srgbClr val="F7EE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($20.4k)</a:t>
                      </a:r>
                    </a:p>
                  </a:txBody>
                  <a:tcPr marL="76200" marR="76200" marT="85725" marB="85725" anchor="ctr">
                    <a:solidFill>
                      <a:srgbClr val="F7EE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($23.0k)</a:t>
                      </a:r>
                    </a:p>
                  </a:txBody>
                  <a:tcPr marL="76200" marR="76200" marT="85725" marB="85725" anchor="ctr">
                    <a:solidFill>
                      <a:srgbClr val="F7EE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($78.9k)</a:t>
                      </a:r>
                    </a:p>
                  </a:txBody>
                  <a:tcPr marL="76200" marR="76200" marT="85725" marB="85725" anchor="ctr">
                    <a:solidFill>
                      <a:srgbClr val="F7EEE9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125" b="1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Gross margin</a:t>
                      </a:r>
                    </a:p>
                  </a:txBody>
                  <a:tcPr marL="152400" marR="1143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56%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55%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55%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>
                          <a:solidFill>
                            <a:srgbClr val="0B0C0C"/>
                          </a:solidFill>
                          <a:latin typeface="Arial"/>
                          <a:ea typeface="Arial"/>
                          <a:cs typeface="Arial"/>
                        </a:rPr>
                        <a:t>55%</a:t>
                      </a:r>
                    </a:p>
                  </a:txBody>
                  <a:tcPr marL="76200" marR="7620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EC01B-2E5A-4840-AEC2-9BA92EF1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770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A8ACAE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8ACAE"/>
                </a:solidFill>
                <a:latin typeface="Arial"/>
                <a:ea typeface="Arial"/>
                <a:cs typeface="Arial"/>
              </a:rPr>
              <a:t>Illustrative management base case. Not current results.</a:t>
            </a:r>
          </a:p>
        </p:txBody>
      </p:sp>
    </p:spTree>
    <p:extLst>
      <p:ext uri="{BB962C8B-B14F-4D97-AF65-F5344CB8AC3E}">
        <p14:creationId xmlns:p14="http://schemas.microsoft.com/office/powerpoint/2010/main" val="16288273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a7fdf4c5164546">
            <a:extLst>
              <a:ext uri="{96DAC541-7B7A-43D3-8B79-37D633B846F1}">
                <asvg:svgBlip xmlns:asvg="http://schemas.microsoft.com/office/drawing/2016/SVG/main" r:embed="R6a87ae70465044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F19A8-59AE-45BA-A4C4-672D4CD9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7239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5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Why Ruhana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1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Will 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0927D-E9D6-4123-BCED-19173F33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8650"/>
            <a:ext cx="3810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Ruhana adapts across industries while the website keeps each agent specific.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A0B8B-7A73-406E-B55D-76DA2E6B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858250" y="1428750"/>
            <a:ext cx="1409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89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46174-E164-4923-A634-9AE2E1A7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596EB-E9E4-4F6B-982D-41D9CD76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A0388-6E98-4D45-92EA-1E8D0F41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Website-first, not generic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0B229-D663-4E15-8D06-2157E072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We start from the page, visitor intent and business outcome—not a blank conversation.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BD262-00CE-40ED-AE99-2EF3845F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8677E-461A-47C4-81D0-53E3B7BA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6697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B2C51-3030-4B61-A16E-C8E8C952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Execution-led go-to-market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32ABB-0181-4B11-9CB9-66CB73D7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956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We launch with design partners, prove one KPI and expand where the agent works.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D3C08-FCB9-48B4-8A77-C6DE5705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F1A448-46D7-4ED6-AE02-CCF72B58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1B14B-DD2C-4877-96C9-2E8565C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9625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Brand as trust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7F357-4D0B-40C2-BF2D-D01BA295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3397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A premium human interface sits beside clear controls, handoff and measurable accountability.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E98923-BE25-4E64-912E-5BF0D969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38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D0B97-9978-4BD9-AEB1-752BC66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05350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1" i="0">
                <a:solidFill>
                  <a:srgbClr val="7D9EAA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7D9EA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F674D-8715-4F18-8BD4-79ACD292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19625"/>
            <a:ext cx="321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Compounding product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EB967-86E2-4181-9B30-87D2BCCB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3397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Each deployment improves intents, actions and outcome models that generic avatar APIs do not own.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f244619c84d2b"/>
          <a:stretch xmlns:a="http://schemas.openxmlformats.org/drawingml/2006/main"/>
        </p:blipFill>
        <p:spPr>
          <a:xfrm xmlns:a="http://schemas.openxmlformats.org/drawingml/2006/main">
            <a:off x="9144000" y="3698719"/>
            <a:ext cx="3695700" cy="20799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156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52639F-2CFC-48A7-9178-9508E9B7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Timeline &amp; Traction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2e6bab6c6410d">
            <a:extLst>
              <a:ext uri="{96DAC541-7B7A-43D3-8B79-37D633B846F1}">
                <asvg:svgBlip xmlns:asvg="http://schemas.microsoft.com/office/drawing/2016/SVG/main" r:embed="Rd6a863c42e5240e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4E6DF-7EAF-45E1-A23D-32C9CBA5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57250" y="3781425"/>
            <a:ext cx="1190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B0C0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8AB64-5984-4DB0-AABF-09CD7B72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C0C"/>
          </a:solidFill>
          <a:ln xmlns:a="http://schemas.openxmlformats.org/drawingml/2006/main" w="19050">
            <a:solidFill>
              <a:srgbClr val="0B0C0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78E5D-096F-4F18-8B3F-9950C585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143000" y="2667000"/>
            <a:ext cx="9525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ACAE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C37A7-4E5D-463C-AD5F-EA2D500A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885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Jul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BA6DE-15D4-49C5-A3E6-058276E7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2193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Product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54F1B-823A-49C7-8CBA-3B5703E0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194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A8ACAE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8ACAE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4AC95-4861-4693-B841-72822CDB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C0C"/>
          </a:solidFill>
          <a:ln xmlns:a="http://schemas.openxmlformats.org/drawingml/2006/main" w="19050">
            <a:solidFill>
              <a:srgbClr val="0B0C0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B22A9-3B59-444F-BC91-3ABD8C10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028950" y="4010025"/>
            <a:ext cx="9525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ACAE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5B368-825F-4A1E-A6DD-82BB69B8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0482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Aug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F6201-A608-4D90-8D1C-758DB36D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3816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Dashboard + analytics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EE0E3-1D86-4119-83A6-A8730229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9817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A8ACAE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8ACAE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1298B-9904-4D29-BC7D-76BCD4B3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C0C"/>
          </a:solidFill>
          <a:ln xmlns:a="http://schemas.openxmlformats.org/drawingml/2006/main" w="19050">
            <a:solidFill>
              <a:srgbClr val="0B0C0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CA3D6-3397-403F-B07D-9F27E98D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914900" y="2667000"/>
            <a:ext cx="9525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ACAE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00F53-1656-44F2-B3C0-9602191F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85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Early Sep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6FDC5-ED10-4419-BE98-1369FDAF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193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Builder + auth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34A07-AE11-4769-8753-3D217728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194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A8ACAE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8ACAE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C195C-1C2F-4450-9C08-F6928D47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8AC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87F77-FFE8-4E73-93E4-BB27178F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6800850" y="4010025"/>
            <a:ext cx="9525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8895A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AD4C9D-4293-499C-ACF6-56CA3D07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482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Late Sep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FDAF03-5E8A-4C71-A5A7-B245CFB4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816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Live widget pilot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03C58-D203-43E2-AB1B-A7F5E1E7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9817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D8895A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D8895A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30A6A-6C19-4184-9097-30FAD097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8ACA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4F18EE-9E2E-49E0-A1F8-43B9C3B9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686800" y="2667000"/>
            <a:ext cx="9525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ACAE"/>
            </a:solidFill>
            <a:prstDash val="dash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3622C5-8E3E-4C89-A097-7E040DC6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85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Oct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48CE8B-AE45-4B5F-9B2F-03DDDAC2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193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Design partners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4D7A8D-1E9D-4E9F-9729-DF958252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194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A8ACAE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8ACAE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1C2EA4-7711-453A-8EC6-3048268B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8ACA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C4F151-6515-4467-BC4D-0C4B899F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572750" y="4010025"/>
            <a:ext cx="9525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ACAE"/>
            </a:solidFill>
            <a:prstDash val="dash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D43FCA-E111-47D1-9D75-E2ABE3FD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0482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Nov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B2AD01-3450-45A7-B784-0A517E95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816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First paid deployment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7FB3AF-4B75-457F-A5F8-FD7AE6D4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9817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A8ACAE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8ACAE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F6FD38-2867-440E-9E2E-E442A782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667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8ACA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0AEFF0-6092-4E40-AF5E-66834BBA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2458700" y="2667000"/>
            <a:ext cx="9525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ACAE"/>
            </a:solidFill>
            <a:prstDash val="dash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359C20-74A9-4D16-ABB6-A89220D5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188595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Q1 2027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7556B1-A11C-4C46-997D-C1AD38D3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21932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75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Vertical playbook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0980FE-642A-4561-97EA-D05CE53A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2819400"/>
            <a:ext cx="895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A8ACAE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8ACAE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4d8ef66ff749bf"/>
          <a:stretch xmlns:a="http://schemas.openxmlformats.org/drawingml/2006/main"/>
        </p:blipFill>
        <p:spPr>
          <a:xfrm xmlns:a="http://schemas.openxmlformats.org/drawingml/2006/main">
            <a:off x="11525250" y="523875"/>
            <a:ext cx="762000" cy="11430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7A4721-AE3A-4617-9B60-E2DA177E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23900" y="6819900"/>
            <a:ext cx="1219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D9EA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F0E0FA-F9E1-4E74-8B5D-41D5B0A7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70560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Ongoing: website integrations and enterprise deployment path</a:t>
            </a:r>
          </a:p>
        </p:txBody>
      </p:sp>
    </p:spTree>
    <p:extLst>
      <p:ext uri="{BB962C8B-B14F-4D97-AF65-F5344CB8AC3E}">
        <p14:creationId xmlns:p14="http://schemas.microsoft.com/office/powerpoint/2010/main" val="3693978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2e56c07dc4020">
            <a:extLst>
              <a:ext uri="{96DAC541-7B7A-43D3-8B79-37D633B846F1}">
                <asvg:svgBlip xmlns:asvg="http://schemas.microsoft.com/office/drawing/2016/SVG/main" r:embed="Rfa9ac4a28a3049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954000" y="7038975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3402F-E4AE-4C4B-9E45-68FA2F55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457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16933-3B66-4BB7-B14D-84BA0DDE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 Team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19184c9c14974"/>
          <a:stretch xmlns:a="http://schemas.openxmlformats.org/drawingml/2006/main"/>
        </p:blipFill>
        <p:spPr>
          <a:xfrm xmlns:a="http://schemas.openxmlformats.org/drawingml/2006/main">
            <a:off x="7524750" y="515938"/>
            <a:ext cx="2952750" cy="1968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6189C-371A-4C1D-B87D-086F9F02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666875" y="3981450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8ACAE"/>
            </a:solidFill>
            <a:prstDash val="dash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3A204-F31C-4D00-B840-FB39AD2A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051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0C0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162D7-0CD8-4F71-82D4-B082947A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67125"/>
            <a:ext cx="1752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AH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96F58-2F99-4223-B1F1-66A30292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181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Abdul Hadi Asif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A2AD58-8624-490B-B624-02B3BDA3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61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Product &amp;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CF64C-80CE-46D2-8C77-8A0C2B76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051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8753F-B274-473F-BF21-82C2A750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67125"/>
            <a:ext cx="1752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1ED6C-E5FA-4035-8C41-42943A4A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181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Huzaifa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364B4-774F-46B1-95F4-DB8F0C6F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61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AI &amp; Platform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8D5ED-AAB5-4332-A9A4-6FED4D43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051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C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F356E-D46F-4284-BB98-E14E453E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667125"/>
            <a:ext cx="1752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354DB-1D74-4D76-8FF1-33DFD670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181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Rabi Ahmed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0147B-ACBA-4CD6-8E2D-59C170C0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61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Analytics Engineering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D453B-198C-409C-BD45-E42A8796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10515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14288">
            <a:solidFill>
              <a:srgbClr val="D9DC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1FD22-C90D-4589-9BD4-F6E500E0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667125"/>
            <a:ext cx="1752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700" b="1" i="0">
                <a:solidFill>
                  <a:srgbClr val="A8ACAE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A8ACAE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0FFAD-9737-4603-AE80-5CD767D9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81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0B0C0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C0C"/>
                </a:solidFill>
                <a:latin typeface="Arial"/>
                <a:ea typeface="Arial"/>
                <a:cs typeface="Arial"/>
              </a:rPr>
              <a:t>Customer Success Lead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9EC382-202B-4829-A576-465C951D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61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666A6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A6C"/>
                </a:solidFill>
                <a:latin typeface="Arial"/>
                <a:ea typeface="Arial"/>
                <a:cs typeface="Arial"/>
              </a:rPr>
              <a:t>Next hire</a:t>
            </a:r>
          </a:p>
        </p:txBody>
      </p:sp>
    </p:spTree>
    <p:extLst>
      <p:ext uri="{BB962C8B-B14F-4D97-AF65-F5344CB8AC3E}">
        <p14:creationId xmlns:p14="http://schemas.microsoft.com/office/powerpoint/2010/main" val="770300635"/>
      </p:ext>
    </p:extLst>
  </p:cSld>
</p:sld>
</file>

<file path=ppt/theme/theme1.xml><?xml version="1.0" encoding="utf-8"?>
<a:theme xmlns:a="http://schemas.openxmlformats.org/drawingml/2006/main" name="ChatGPT">
  <a:themeElements>
    <a:clrScheme name="Ruhana Monochrome">
      <a:dk1>
        <a:srgbClr val="0B0C0C"/>
      </a:dk1>
      <a:lt1>
        <a:srgbClr val="FFFFFF"/>
      </a:lt1>
      <a:dk2>
        <a:srgbClr val="17191A"/>
      </a:dk2>
      <a:lt2>
        <a:srgbClr val="F2F3F3"/>
      </a:lt2>
      <a:accent1>
        <a:srgbClr val="0B0C0C"/>
      </a:accent1>
      <a:accent2>
        <a:srgbClr val="666A6C"/>
      </a:accent2>
      <a:accent3>
        <a:srgbClr val="7D9EAA"/>
      </a:accent3>
      <a:accent4>
        <a:srgbClr val="D8895A"/>
      </a:accent4>
      <a:accent5>
        <a:srgbClr val="E7E9EA"/>
      </a:accent5>
      <a:accent6>
        <a:srgbClr val="A8ACAE"/>
      </a:accent6>
      <a:hlink>
        <a:srgbClr val="7D9EAA"/>
      </a:hlink>
      <a:folHlink>
        <a:srgbClr val="666A6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uhana Monochro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2026-09-07T05:55:13.5470000Z</dcterms:created>
  <dcterms:modified xsi:type="dcterms:W3CDTF">2026-09-07T05:55:13.5470000Z</dcterms:modified>
</coreProperties>
</file>
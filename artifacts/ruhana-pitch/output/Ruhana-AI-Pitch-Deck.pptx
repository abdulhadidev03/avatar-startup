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11cd2da93b4f6d" /><Relationship Type="http://schemas.openxmlformats.org/officeDocument/2006/relationships/extended-properties" Target="/docProps/app.xml" Id="R60e083ef90d84d75" /><Relationship Type="http://schemas.openxmlformats.org/officeDocument/2006/relationships/officeDocument" Target="/ppt/presentation.xml" Id="Rcb17656f80c44b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481e60c7f34076"/>
  </p:sldMasterIdLst>
  <p:notesMasterIdLst>
    <p:notesMasterId xmlns:r="http://schemas.openxmlformats.org/officeDocument/2006/relationships" r:id="R2247d6bb2fb94e65"/>
  </p:notesMasterIdLst>
  <p:sldIdLst>
    <p:sldId xmlns:r="http://schemas.openxmlformats.org/officeDocument/2006/relationships" id="256" r:id="R915b77a9920c46bd"/>
    <p:sldId xmlns:r="http://schemas.openxmlformats.org/officeDocument/2006/relationships" id="257" r:id="Rfd18059aa4c743d8"/>
    <p:sldId xmlns:r="http://schemas.openxmlformats.org/officeDocument/2006/relationships" id="258" r:id="R485f2eaba3c34acc"/>
    <p:sldId xmlns:r="http://schemas.openxmlformats.org/officeDocument/2006/relationships" id="259" r:id="Rccc81f9128154f21"/>
    <p:sldId xmlns:r="http://schemas.openxmlformats.org/officeDocument/2006/relationships" id="260" r:id="R4695359cc88a43e2"/>
    <p:sldId xmlns:r="http://schemas.openxmlformats.org/officeDocument/2006/relationships" id="261" r:id="Rd703f7602d9643ed"/>
    <p:sldId xmlns:r="http://schemas.openxmlformats.org/officeDocument/2006/relationships" id="262" r:id="Rf53ca42c247143c9"/>
    <p:sldId xmlns:r="http://schemas.openxmlformats.org/officeDocument/2006/relationships" id="263" r:id="R5a9d2de3779c4f76"/>
    <p:sldId xmlns:r="http://schemas.openxmlformats.org/officeDocument/2006/relationships" id="264" r:id="Rd4928ac414fc44e5"/>
    <p:sldId xmlns:r="http://schemas.openxmlformats.org/officeDocument/2006/relationships" id="265" r:id="R18bf5449e9aa47a0"/>
    <p:sldId xmlns:r="http://schemas.openxmlformats.org/officeDocument/2006/relationships" id="266" r:id="Rfc1059f90b1f4ac6"/>
    <p:sldId xmlns:r="http://schemas.openxmlformats.org/officeDocument/2006/relationships" id="267" r:id="R148829b1dbf84ddf"/>
    <p:sldId xmlns:r="http://schemas.openxmlformats.org/officeDocument/2006/relationships" id="268" r:id="R319081b90f8640f7"/>
    <p:sldId xmlns:r="http://schemas.openxmlformats.org/officeDocument/2006/relationships" id="269" r:id="Re350ad73ed734979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b4f8ea6c946b3" /><Relationship Type="http://schemas.openxmlformats.org/officeDocument/2006/relationships/slideMaster" Target="/ppt/slideMasters/slideMaster1.xml" Id="R0a481e60c7f34076" /><Relationship Type="http://schemas.openxmlformats.org/officeDocument/2006/relationships/notesMaster" Target="/ppt/notesMasters/notesMaster1.xml" Id="R2247d6bb2fb94e65" /><Relationship Type="http://schemas.openxmlformats.org/officeDocument/2006/relationships/presProps" Target="/ppt/presProps.xml" Id="R0d099b2cc34d4cae" /><Relationship Type="http://schemas.openxmlformats.org/officeDocument/2006/relationships/tableStyles" Target="/ppt/tableStyles.xml" Id="Rb6dcf7b2f0864c38" /><Relationship Type="http://schemas.openxmlformats.org/officeDocument/2006/relationships/slide" Target="/ppt/slides/slide1.xml" Id="R915b77a9920c46bd" /><Relationship Type="http://schemas.openxmlformats.org/officeDocument/2006/relationships/slide" Target="/ppt/slides/slide2.xml" Id="Rfd18059aa4c743d8" /><Relationship Type="http://schemas.openxmlformats.org/officeDocument/2006/relationships/slide" Target="/ppt/slides/slide3.xml" Id="R485f2eaba3c34acc" /><Relationship Type="http://schemas.openxmlformats.org/officeDocument/2006/relationships/slide" Target="/ppt/slides/slide4.xml" Id="Rccc81f9128154f21" /><Relationship Type="http://schemas.openxmlformats.org/officeDocument/2006/relationships/slide" Target="/ppt/slides/slide5.xml" Id="R4695359cc88a43e2" /><Relationship Type="http://schemas.openxmlformats.org/officeDocument/2006/relationships/slide" Target="/ppt/slides/slide6.xml" Id="Rd703f7602d9643ed" /><Relationship Type="http://schemas.openxmlformats.org/officeDocument/2006/relationships/slide" Target="/ppt/slides/slide7.xml" Id="Rf53ca42c247143c9" /><Relationship Type="http://schemas.openxmlformats.org/officeDocument/2006/relationships/slide" Target="/ppt/slides/slide8.xml" Id="R5a9d2de3779c4f76" /><Relationship Type="http://schemas.openxmlformats.org/officeDocument/2006/relationships/slide" Target="/ppt/slides/slide9.xml" Id="Rd4928ac414fc44e5" /><Relationship Type="http://schemas.openxmlformats.org/officeDocument/2006/relationships/slide" Target="/ppt/slides/slide10.xml" Id="R18bf5449e9aa47a0" /><Relationship Type="http://schemas.openxmlformats.org/officeDocument/2006/relationships/slide" Target="/ppt/slides/slide11.xml" Id="Rfc1059f90b1f4ac6" /><Relationship Type="http://schemas.openxmlformats.org/officeDocument/2006/relationships/slide" Target="/ppt/slides/slide12.xml" Id="R148829b1dbf84ddf" /><Relationship Type="http://schemas.openxmlformats.org/officeDocument/2006/relationships/slide" Target="/ppt/slides/slide13.xml" Id="R319081b90f8640f7" /><Relationship Type="http://schemas.openxmlformats.org/officeDocument/2006/relationships/slide" Target="/ppt/slides/slide14.xml" Id="Re350ad73ed7349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20092be41245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uhana Editorial">
      <a:dk1>
        <a:srgbClr val="101412"/>
      </a:dk1>
      <a:lt1>
        <a:srgbClr val="FFFFFF"/>
      </a:lt1>
      <a:dk2>
        <a:srgbClr val="171A18"/>
      </a:dk2>
      <a:lt2>
        <a:srgbClr val="FCFBF8"/>
      </a:lt2>
      <a:accent1>
        <a:srgbClr val="527A73"/>
      </a:accent1>
      <a:accent2>
        <a:srgbClr val="C77E5D"/>
      </a:accent2>
      <a:accent3>
        <a:srgbClr val="A99DB2"/>
      </a:accent3>
      <a:accent4>
        <a:srgbClr val="9EB4BC"/>
      </a:accent4>
      <a:accent5>
        <a:srgbClr val="B8C6B1"/>
      </a:accent5>
      <a:accent6>
        <a:srgbClr val="376B5F"/>
      </a:accent6>
      <a:hlink>
        <a:srgbClr val="527A73"/>
      </a:hlink>
      <a:folHlink>
        <a:srgbClr val="A99DB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han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2a68620b004bc8" /><Relationship Type="http://schemas.openxmlformats.org/officeDocument/2006/relationships/notesMaster" Target="/ppt/notesMasters/notesMaster1.xml" Id="R12dd1d0b066f42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9897136274092" /><Relationship Type="http://schemas.openxmlformats.org/officeDocument/2006/relationships/notesMaster" Target="/ppt/notesMasters/notesMaster1.xml" Id="Ra7db0ee6059948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c364bc41a74e55" /><Relationship Type="http://schemas.openxmlformats.org/officeDocument/2006/relationships/notesMaster" Target="/ppt/notesMasters/notesMaster1.xml" Id="R4ea7fcacb1e741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a527e90a7d4694" /><Relationship Type="http://schemas.openxmlformats.org/officeDocument/2006/relationships/notesMaster" Target="/ppt/notesMasters/notesMaster1.xml" Id="Ra6306c568d9645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9ff325a88e4661" /><Relationship Type="http://schemas.openxmlformats.org/officeDocument/2006/relationships/notesMaster" Target="/ppt/notesMasters/notesMaster1.xml" Id="R0fa05f5779474d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f8261ce049443c" /><Relationship Type="http://schemas.openxmlformats.org/officeDocument/2006/relationships/notesMaster" Target="/ppt/notesMasters/notesMaster1.xml" Id="Rdf49e26074f445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b18144a274b11" /><Relationship Type="http://schemas.openxmlformats.org/officeDocument/2006/relationships/notesMaster" Target="/ppt/notesMasters/notesMaster1.xml" Id="Rd65fbf8ed8a442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8999b22fcd4eb2" /><Relationship Type="http://schemas.openxmlformats.org/officeDocument/2006/relationships/notesMaster" Target="/ppt/notesMasters/notesMaster1.xml" Id="Re00f59c530d442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f120cd7a404717" /><Relationship Type="http://schemas.openxmlformats.org/officeDocument/2006/relationships/notesMaster" Target="/ppt/notesMasters/notesMaster1.xml" Id="R6815a2224c9c41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93f0504e284878" /><Relationship Type="http://schemas.openxmlformats.org/officeDocument/2006/relationships/notesMaster" Target="/ppt/notesMasters/notesMaster1.xml" Id="Rd8de61f21d3043a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ca956aef6446e7" /><Relationship Type="http://schemas.openxmlformats.org/officeDocument/2006/relationships/notesMaster" Target="/ppt/notesMasters/notesMaster1.xml" Id="Rf4333293bc9940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d06841bf9b84278" /><Relationship Type="http://schemas.openxmlformats.org/officeDocument/2006/relationships/notesMaster" Target="/ppt/notesMasters/notesMaster1.xml" Id="R6a387d47d1f544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f0a0dde9cfb4ca3" /><Relationship Type="http://schemas.openxmlformats.org/officeDocument/2006/relationships/notesMaster" Target="/ppt/notesMasters/notesMaster1.xml" Id="R0a125898a7f94c1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b00f6cf7585445f" /><Relationship Type="http://schemas.openxmlformats.org/officeDocument/2006/relationships/notesMaster" Target="/ppt/notesMasters/notesMaster1.xml" Id="Rfe3aa94fb3104a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Ruhana AI positioning deck. Visual is original Ruhana artwork created for this presentation.</a:t>
            </a:r>
          </a:p>
          <a:p xmlns:a="http://schemas.openxmlformats.org/drawingml/2006/main">
            <a:r>
              <a:t>No accelerator or acceptance claims are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Qualtrics XM Institute (2024), $3.8 trillion global sales at risk in 2025: https://www.qualtrics.com/articles/customer-experience/trillion-sales-at-risk-2025/</a:t>
            </a:r>
          </a:p>
          <a:p xmlns:a="http://schemas.openxmlformats.org/drawingml/2006/main">
            <a:r>
              <a:t>Capgemini Research Institute (2025), Unleashing the value of customer service; 55% brand-leaving intent and 71% human preference for empathy: https://www.capgemini.com/wp-content/uploads/2025/03/Final-Web-Version-Report-Customer-Service-Transformation.pdf</a:t>
            </a:r>
          </a:p>
          <a:p xmlns:a="http://schemas.openxmlformats.org/drawingml/2006/main">
            <a:r>
              <a:t>Gartner (2026), 87% say GenAI customer service must provide access to a human agent: https://www.gartner.com/en/newsroom/press-releases/2026-08-04-gartner-survey-finds-87-percent-of-customers-say-companies-using-genai-for-customer-service-must-provide-access-to-a-human-agent0</a:t>
            </a:r>
          </a:p>
          <a:p xmlns:a="http://schemas.openxmlformats.org/drawingml/2006/main">
            <a:r>
              <a:t>The final two statements are Ruhana's product thesis, not third-party measured statistics.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Ruhana product definition based on the current codebase: visitor context, goal-directed conversations, actions, transcripts and outcome analytics.</a:t>
            </a:r>
          </a:p>
          <a:p xmlns:a="http://schemas.openxmlformats.org/drawingml/2006/main">
            <a:r>
              <a:t>Visual is original Ruhana artwork created for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Gartner (2026): 58% of GenAI users used it to complete a task; 74% in B2B: https://www.gartner.com/en/newsroom/press-releases/2026-08-04-gartner-survey-finds-87-percent-of-customers-say-companies-using-genai-for-customer-service-must-provide-access-to-a-human-agent0</a:t>
            </a:r>
          </a:p>
          <a:p xmlns:a="http://schemas.openxmlformats.org/drawingml/2006/main">
            <a:r>
              <a:t>Grand View Research (2026): avatar-based online customer service market CAGR 31.2% from 2026 to 2033: https://www.grandviewresearch.com/horizon/statistics/ai-avatar-market/application/avatar-based-online-customer-service/global</a:t>
            </a:r>
          </a:p>
          <a:p xmlns:a="http://schemas.openxmlformats.org/drawingml/2006/main">
            <a:r>
              <a:t>Krajcovic, Demcak &amp; Kuric (2026) found embodied conversational agents produced significantly more informative, detailed responses and higher, more time-efficient engagement than a text chatbot in a randomized study; satisfaction did not significantly change: https://doi.org/10.3758/s13428-026-03091-0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calculations:</a:t>
            </a:r>
          </a:p>
          <a:p xmlns:a="http://schemas.openxmlformats.org/drawingml/2006/main">
            <a:r>
              <a:t>Grand View Research (2025): conversational AI market projected to $41.39B in 2030: https://www.prnewswire.com/news-releases/conversational-ai-market-to-be-worth-41-39-billion-by-2030-at-cagr-23-7---grand-view-research-inc-302452404.html</a:t>
            </a:r>
          </a:p>
          <a:p xmlns:a="http://schemas.openxmlformats.org/drawingml/2006/main">
            <a:r>
              <a:t>Grand View Research (2026): avatar-based online customer service was $267.9M in 2025 and is forecast to $2,372.8M in 2033 at 31.2% CAGR: https://www.grandviewresearch.com/horizon/statistics/ai-avatar-market/application/avatar-based-online-customer-service/global</a:t>
            </a:r>
          </a:p>
          <a:p xmlns:a="http://schemas.openxmlformats.org/drawingml/2006/main">
            <a:r>
              <a:t>SAM is Ruhana's calculation of the category's 2030 value by compounding the published 2025 base at the published CAGR: approximately $1.04B.</a:t>
            </a:r>
          </a:p>
          <a:p xmlns:a="http://schemas.openxmlformats.org/drawingml/2006/main">
            <a:r>
              <a:t>SOM is an internal five-year objective equal to 1% of the 2030 SAM, not current revenue or a third-party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segments are Ruhana's go-to-market thesis, chosen for high-intent web journeys and measurable outcomes.</a:t>
            </a:r>
          </a:p>
          <a:p xmlns:a="http://schemas.openxmlformats.org/drawingml/2006/main">
            <a:r>
              <a:t>Grand View Research identifies retail/e-commerce, real estate, hospitality, education, healthcare, BFSI, and IT/telecommunications as verticals in the AI avatar market: https://www.grandviewresearch.com/horizon/statistics/ai-avatar-market/application/avatar-based-online-customer-service/global</a:t>
            </a:r>
          </a:p>
          <a:p xmlns:a="http://schemas.openxmlformats.org/drawingml/2006/main">
            <a:r>
              <a:t>Private or on-premise deployment is positioned as an enterprise pathway, not a claim of current general availability.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Directional positioning based on public product pages reviewed September 2026; this is not an audited feature matrix.</a:t>
            </a:r>
          </a:p>
          <a:p xmlns:a="http://schemas.openxmlformats.org/drawingml/2006/main">
            <a:r>
              <a:t>Anam public product and pricing: https://anam.ai/ and https://anam.ai/pricing</a:t>
            </a:r>
          </a:p>
          <a:p xmlns:a="http://schemas.openxmlformats.org/drawingml/2006/main">
            <a:r>
              <a:t>LemonSlice public product page: https://lemonslice.com/</a:t>
            </a:r>
          </a:p>
          <a:p xmlns:a="http://schemas.openxmlformats.org/drawingml/2006/main">
            <a:r>
              <a:t>Tavus conversational video: https://www.tavus.io/cvi</a:t>
            </a:r>
          </a:p>
          <a:p xmlns:a="http://schemas.openxmlformats.org/drawingml/2006/main">
            <a:r>
              <a:t>LiveAvatar public product page: https://www.liveavatar.com/</a:t>
            </a:r>
          </a:p>
          <a:p xmlns:a="http://schemas.openxmlformats.org/drawingml/2006/main">
            <a:r>
              <a:t>Ruhana positioning reflects the current product's page-context, actions and analytics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architecture and screenshot are based on the current Ruhana codebase and dashboard.</a:t>
            </a:r>
          </a:p>
          <a:p xmlns:a="http://schemas.openxmlformats.org/drawingml/2006/main">
            <a:r>
              <a:t>The embedded screenshot contains illustrative dashboard data, as labeled in the live interface.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Unit economics benchmark (September 2026):</a:t>
            </a:r>
          </a:p>
          <a:p xmlns:a="http://schemas.openxmlformats.org/drawingml/2006/main">
            <a:r>
              <a:t>The visible deck intentionally describes model categories rather than infrastructure vendors.</a:t>
            </a:r>
          </a:p>
          <a:p xmlns:a="http://schemas.openxmlformats.org/drawingml/2006/main">
            <a:r>
              <a:t>Avatar-layer benchmark uses a $0.11 per extra minute professional overage from Anam's public pricing: https://anam.ai/pricing</a:t>
            </a:r>
          </a:p>
          <a:p xmlns:a="http://schemas.openxmlformats.org/drawingml/2006/main">
            <a:r>
              <a:t>Language-model estimate uses GPT-5.6 Terra at $2.00/M input tokens and $12.00/M output tokens, assuming roughly 1,800 input and 180 output tokens per connected minute: about $0.006/min: https://developers.openai.com/api/docs/models/gpt-5.6-terra</a:t>
            </a:r>
          </a:p>
          <a:p xmlns:a="http://schemas.openxmlformats.org/drawingml/2006/main">
            <a:r>
              <a:t>An additional ~$0.014/min is reserved for hosting, storage, observability and variability. Total estimated COGS is rounded to $0.13/min at pooled production utilization. Early-stage margins can be lower before capacity is efficiently pooled.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Ruhana pricing recommendation, September 2026. No free tier is included by design.</a:t>
            </a:r>
          </a:p>
          <a:p xmlns:a="http://schemas.openxmlformats.org/drawingml/2006/main">
            <a:r>
              <a:t>At the $0.13/min pooled production COGS estimate, gross margins on fully used included allowances are approximately: Launch 66.7%, Growth 59.7%, Scale 55.3%, Enterprise floor 54.5%.</a:t>
            </a:r>
          </a:p>
          <a:p xmlns:a="http://schemas.openxmlformats.org/drawingml/2006/main">
            <a:r>
              <a:t>Incremental usage gross margins are approximately: $0.32 59.4%, $0.29 55.2%, $0.27 51.9%, $0.26 50.0%.</a:t>
            </a:r>
          </a:p>
          <a:p xmlns:a="http://schemas.openxmlformats.org/drawingml/2006/main">
            <a:r>
              <a:t>Competitive context: Anam paid plans currently list $12/50 minutes, $49/250, $299/2,000 and $999/5,000, with $0.16–$0.11/min overages. Ruhana prices a complete context, action and analytics product rather than raw avatar infrastructure: https://anam.ai/pricing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Forward-looking management assumptions; no current customer or revenue claims are made.</a:t>
            </a:r>
          </a:p>
          <a:p xmlns:a="http://schemas.openxmlformats.org/drawingml/2006/main">
            <a:r>
              <a:t>Model assumptions: ending paid accounts grow from 12 in Q4 2026 to 650 in Q3 2028; blended monthly ARPA grows from roughly $96 to $155 as the plan mix shifts upward; quarter revenue uses average accounts within the quarter; gross margin improves as vendor capacity is pooled more efficiently.</a:t>
            </a:r>
          </a:p>
          <a:p xmlns:a="http://schemas.openxmlformats.org/drawingml/2006/main">
            <a:r>
              <a:t>Operating spend includes product, engineering, go-to-market and general operations. It is illustrative and excludes fundraising proceeds.</a:t>
            </a:r>
          </a:p>
          <a:p xmlns:a="http://schemas.openxmlformats.org/drawingml/2006/main">
            <a:r>
              <a:t>Exit ARR is Q3 2028 ending MRR (650 customers × $155) × 12 = approximately $1.21M.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Ruhana differentiation reflects the current product architecture and planned enterprise pathway.</a:t>
            </a:r>
          </a:p>
          <a:p xmlns:a="http://schemas.openxmlformats.org/drawingml/2006/main">
            <a:r>
              <a:t>Private deployment and advanced governance should be presented externally as an enterprise option/pathway until production availability is contractually confirmed.</a:t>
            </a:r>
          </a:p>
          <a:p xmlns:a="http://schemas.openxmlformats.org/drawingml/2006/main">
            <a:r>
              <a:t>Gartner (2026) argues that agent outcomes depend on organizational context and semantic foundations: https://www.gartner.com/en/newsroom/press-releases/2026-05-11-gartner-says-lack-of-semantics-causes-inaccurate-artificial-intelligence-agents-and-wasted-spending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Built/live milestones are supported by the current repository and the public site at https://www.ruhanaai.com/.</a:t>
            </a:r>
          </a:p>
          <a:p xmlns:a="http://schemas.openxmlformats.org/drawingml/2006/main">
            <a:r>
              <a:t>Future pilot, integration and scale milestones are plans, not completed traction.</a:t>
            </a:r>
          </a:p>
          <a:p xmlns:a="http://schemas.openxmlformats.org/drawingml/2006/main">
            <a:r>
              <a:t>The next proof point should be customer-level attributed outcomes from design partners, not vanity engagement metrics.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Contributor names and areas are based on the current repository history and the user's stated ownership of product UI.</a:t>
            </a:r>
          </a:p>
          <a:p xmlns:a="http://schemas.openxmlformats.org/drawingml/2006/main">
            <a:r>
              <a:t>These are contribution labels rather than legal officer titles. Confirm formal titles before sending the deck externally.</a:t>
            </a:r>
          </a:p>
          <a:p xmlns:a="http://schemas.openxmlformats.org/drawingml/2006/main">
            <a:r>
              <a:t>Repository contributors include Abdul Hadi / Abdulhadidev03, Huzaifa134 and Rabi Ahmed.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28c9feea64a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47e47c43db4436" /><Relationship Type="http://schemas.openxmlformats.org/officeDocument/2006/relationships/slideLayout" Target="/ppt/slideLayouts/slideLayout1.xml" Id="R01cbd5c8137049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cbd5c8137049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uhana Editorial">
      <a:dk1>
        <a:srgbClr val="101412"/>
      </a:dk1>
      <a:lt1>
        <a:srgbClr val="FFFFFF"/>
      </a:lt1>
      <a:dk2>
        <a:srgbClr val="171A18"/>
      </a:dk2>
      <a:lt2>
        <a:srgbClr val="FCFBF8"/>
      </a:lt2>
      <a:accent1>
        <a:srgbClr val="527A73"/>
      </a:accent1>
      <a:accent2>
        <a:srgbClr val="C77E5D"/>
      </a:accent2>
      <a:accent3>
        <a:srgbClr val="A99DB2"/>
      </a:accent3>
      <a:accent4>
        <a:srgbClr val="9EB4BC"/>
      </a:accent4>
      <a:accent5>
        <a:srgbClr val="B8C6B1"/>
      </a:accent5>
      <a:accent6>
        <a:srgbClr val="376B5F"/>
      </a:accent6>
      <a:hlink>
        <a:srgbClr val="527A73"/>
      </a:hlink>
      <a:folHlink>
        <a:srgbClr val="A99DB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han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bf69bc9ad4f50" /><Relationship Type="http://schemas.openxmlformats.org/officeDocument/2006/relationships/image" Target="/ppt/media/image.png" Id="R5399e93003364a67" /><Relationship Type="http://schemas.openxmlformats.org/officeDocument/2006/relationships/image" Target="/ppt/media/image.svg" Id="Ra347ff2c79984714" /><Relationship Type="http://schemas.openxmlformats.org/officeDocument/2006/relationships/image" Target="/ppt/media/image2.png" Id="R3f823854d9b04d01" /><Relationship Type="http://schemas.openxmlformats.org/officeDocument/2006/relationships/image" Target="/ppt/media/image3.png" Id="Rf2ebc770e72543a3" /><Relationship Type="http://schemas.openxmlformats.org/officeDocument/2006/relationships/image" Target="/ppt/media/image2.svg" Id="Ra36f47ae96ac4941" /><Relationship Type="http://schemas.openxmlformats.org/officeDocument/2006/relationships/notesSlide" Target="/ppt/notesSlides/notesSlide1.xml" Id="Rb1f8aa81544d41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0a26f13b24629" /><Relationship Type="http://schemas.openxmlformats.org/officeDocument/2006/relationships/image" Target="/ppt/media/image4.png" Id="R4b15a53186cc4c7e" /><Relationship Type="http://schemas.openxmlformats.org/officeDocument/2006/relationships/image" Target="/ppt/media/image3.svg" Id="R9fb6f26158ca4969" /><Relationship Type="http://schemas.openxmlformats.org/officeDocument/2006/relationships/image" Target="/ppt/media/image5.png" Id="R09c27d461ca84ca2" /><Relationship Type="http://schemas.openxmlformats.org/officeDocument/2006/relationships/notesSlide" Target="/ppt/notesSlides/notesSlide2.xml" Id="R0af59e75b8014f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7d125d38c41b1" /><Relationship Type="http://schemas.openxmlformats.org/officeDocument/2006/relationships/image" Target="/ppt/media/image6.png" Id="R0d03fbf65e5249c2" /><Relationship Type="http://schemas.openxmlformats.org/officeDocument/2006/relationships/image" Target="/ppt/media/image4.svg" Id="Radc2469e133f4973" /><Relationship Type="http://schemas.openxmlformats.org/officeDocument/2006/relationships/image" Target="/ppt/media/image7.png" Id="R42acd34c2f7b425c" /><Relationship Type="http://schemas.openxmlformats.org/officeDocument/2006/relationships/notesSlide" Target="/ppt/notesSlides/notesSlide3.xml" Id="Reebdfc912c8745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22a8dd3e34246" /><Relationship Type="http://schemas.openxmlformats.org/officeDocument/2006/relationships/image" Target="/ppt/media/image8.png" Id="Rcce9dfc2f569415e" /><Relationship Type="http://schemas.openxmlformats.org/officeDocument/2006/relationships/image" Target="/ppt/media/image5.svg" Id="Rd90cecb2b056400d" /><Relationship Type="http://schemas.openxmlformats.org/officeDocument/2006/relationships/image" Target="/ppt/media/image9.png" Id="R79c0a6b1ad154813" /><Relationship Type="http://schemas.openxmlformats.org/officeDocument/2006/relationships/image" Target="/ppt/media/image6.svg" Id="Rd4634566ce0b4f8b" /><Relationship Type="http://schemas.openxmlformats.org/officeDocument/2006/relationships/notesSlide" Target="/ppt/notesSlides/notesSlide4.xml" Id="Rb5838426eff34e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5f97644cb4732" /><Relationship Type="http://schemas.openxmlformats.org/officeDocument/2006/relationships/image" Target="/ppt/media/image10.png" Id="R208ea1b51d144492" /><Relationship Type="http://schemas.openxmlformats.org/officeDocument/2006/relationships/image" Target="/ppt/media/image7.svg" Id="R2dbf6751145e455e" /><Relationship Type="http://schemas.openxmlformats.org/officeDocument/2006/relationships/notesSlide" Target="/ppt/notesSlides/notesSlide5.xml" Id="Rbab4b9c71ee543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a12bfb3864a79" /><Relationship Type="http://schemas.openxmlformats.org/officeDocument/2006/relationships/image" Target="/ppt/media/image11.png" Id="R846b9bdabbc54b67" /><Relationship Type="http://schemas.openxmlformats.org/officeDocument/2006/relationships/image" Target="/ppt/media/image8.svg" Id="R6c11e816434147d8" /><Relationship Type="http://schemas.openxmlformats.org/officeDocument/2006/relationships/image" Target="/ppt/media/image12.png" Id="R15308c5deba14278" /><Relationship Type="http://schemas.openxmlformats.org/officeDocument/2006/relationships/image" Target="/ppt/media/image9.svg" Id="Rb145282144f945e5" /><Relationship Type="http://schemas.openxmlformats.org/officeDocument/2006/relationships/notesSlide" Target="/ppt/notesSlides/notesSlide6.xml" Id="R006d468efc994d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c61c5c4534193" /><Relationship Type="http://schemas.openxmlformats.org/officeDocument/2006/relationships/image" Target="/ppt/media/image13.png" Id="Re28c28b021864f1d" /><Relationship Type="http://schemas.openxmlformats.org/officeDocument/2006/relationships/image" Target="/ppt/media/image10.svg" Id="R42a068bf61b1499f" /><Relationship Type="http://schemas.openxmlformats.org/officeDocument/2006/relationships/notesSlide" Target="/ppt/notesSlides/notesSlide7.xml" Id="Rcb179e6fa01942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5dcabea634837" /><Relationship Type="http://schemas.openxmlformats.org/officeDocument/2006/relationships/image" Target="/ppt/media/image14.png" Id="Ra5c294d4d091460b" /><Relationship Type="http://schemas.openxmlformats.org/officeDocument/2006/relationships/image" Target="/ppt/media/image11.svg" Id="R5d11dcfc48e84358" /><Relationship Type="http://schemas.openxmlformats.org/officeDocument/2006/relationships/image" Target="/ppt/media/image15.png" Id="R45a4a7d6c0d44eb7" /><Relationship Type="http://schemas.openxmlformats.org/officeDocument/2006/relationships/notesSlide" Target="/ppt/notesSlides/notesSlide8.xml" Id="R07889988b96f46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6d0d678b34ac1" /><Relationship Type="http://schemas.openxmlformats.org/officeDocument/2006/relationships/image" Target="/ppt/media/image16.png" Id="Rd937fb18ce634eee" /><Relationship Type="http://schemas.openxmlformats.org/officeDocument/2006/relationships/image" Target="/ppt/media/image12.svg" Id="R816d7fa76f034a2b" /><Relationship Type="http://schemas.openxmlformats.org/officeDocument/2006/relationships/notesSlide" Target="/ppt/notesSlides/notesSlide9.xml" Id="R1efa7c8ab1bc42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937f70bd2408c" /><Relationship Type="http://schemas.openxmlformats.org/officeDocument/2006/relationships/image" Target="/ppt/media/image17.png" Id="R8986a1834d854d53" /><Relationship Type="http://schemas.openxmlformats.org/officeDocument/2006/relationships/image" Target="/ppt/media/image13.svg" Id="R3591e4e56a0546bc" /><Relationship Type="http://schemas.openxmlformats.org/officeDocument/2006/relationships/notesSlide" Target="/ppt/notesSlides/notesSlide10.xml" Id="R95d151cbd89844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a4d6f1434fa9" /><Relationship Type="http://schemas.openxmlformats.org/officeDocument/2006/relationships/image" Target="/ppt/media/image18.png" Id="R3cef131da45742af" /><Relationship Type="http://schemas.openxmlformats.org/officeDocument/2006/relationships/image" Target="/ppt/media/image14.svg" Id="Rc6134cb9987e47bf" /><Relationship Type="http://schemas.openxmlformats.org/officeDocument/2006/relationships/notesSlide" Target="/ppt/notesSlides/notesSlide11.xml" Id="Rb93029ce956d4a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d47707e8f420b" /><Relationship Type="http://schemas.openxmlformats.org/officeDocument/2006/relationships/image" Target="/ppt/media/image19.png" Id="Ra11a79e97a6c40af" /><Relationship Type="http://schemas.openxmlformats.org/officeDocument/2006/relationships/image" Target="/ppt/media/image15.svg" Id="R6fa216063737441f" /><Relationship Type="http://schemas.openxmlformats.org/officeDocument/2006/relationships/image" Target="/ppt/media/image20.png" Id="R5828db5cf3974217" /><Relationship Type="http://schemas.openxmlformats.org/officeDocument/2006/relationships/image" Target="/ppt/media/image16.svg" Id="Rcb494c6ded234df0" /><Relationship Type="http://schemas.openxmlformats.org/officeDocument/2006/relationships/notesSlide" Target="/ppt/notesSlides/notesSlide12.xml" Id="R083cd6f1f3e049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e848bf8e44e33" /><Relationship Type="http://schemas.openxmlformats.org/officeDocument/2006/relationships/image" Target="/ppt/media/image21.png" Id="R934bbacdea8b4881" /><Relationship Type="http://schemas.openxmlformats.org/officeDocument/2006/relationships/image" Target="/ppt/media/image17.svg" Id="R535fed037fd141c1" /><Relationship Type="http://schemas.openxmlformats.org/officeDocument/2006/relationships/notesSlide" Target="/ppt/notesSlides/notesSlide13.xml" Id="R92caed69fa7745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af9d3311e46a6" /><Relationship Type="http://schemas.openxmlformats.org/officeDocument/2006/relationships/image" Target="/ppt/media/image22.png" Id="R259ab21153a74de2" /><Relationship Type="http://schemas.openxmlformats.org/officeDocument/2006/relationships/image" Target="/ppt/media/image18.svg" Id="R0293aadd9d3d4932" /><Relationship Type="http://schemas.openxmlformats.org/officeDocument/2006/relationships/notesSlide" Target="/ppt/notesSlides/notesSlide14.xml" Id="R0d2d801eb2a7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B59398-38FA-4957-AB01-A25E2BAF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9e93003364a67">
            <a:extLst>
              <a:ext uri="{96DAC541-7B7A-43D3-8B79-37D633B846F1}">
                <asvg:svgBlip xmlns:asvg="http://schemas.microsoft.com/office/drawing/2016/SVG/main" r:embed="Ra347ff2c799847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AB1D9-0EE5-4F41-98BC-EFEBEED4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F2012F-C009-492B-A675-2E207D6A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23854d9b04d01"/>
          <a:srcRect xmlns:a="http://schemas.openxmlformats.org/drawingml/2006/main" l="21513" t="0" r="215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810500" cy="7715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8DEFE0-E8B6-4D9D-B494-7454E797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0"/>
            <a:ext cx="6238875" cy="771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bc770e72543a3">
            <a:extLst>
              <a:ext uri="{96DAC541-7B7A-43D3-8B79-37D633B846F1}">
                <asvg:svgBlip xmlns:asvg="http://schemas.microsoft.com/office/drawing/2016/SVG/main" r:embed="Ra36f47ae96ac49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10550" y="990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FF32E-10FC-4E32-8A58-7BD0154E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28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3ADEF-715C-49AF-8C30-B1DF1119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PRODUCT &amp; MARKET DECK · SEPTEMBER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BDD0D-B3CD-4084-B215-F50712D2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2885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8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AI video agent
</a:t>
            </a:r>
            <a:r>
              <a:rPr sz="3600" b="1" i="1">
                <a:solidFill>
                  <a:srgbClr val="171A18"/>
                </a:solidFill>
                <a:latin typeface="Arial"/>
                <a:ea typeface="Arial"/>
                <a:cs typeface="Arial"/>
              </a:rPr>
              <a:t>for customer success.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B81C7-5CC3-4704-98F9-253430B4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 face, a voice, and the context to move every website visit forward.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26CDD-E8F1-4750-8683-7FB9A9D8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229600" y="5219700"/>
            <a:ext cx="413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1A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331992-4EFE-43D8-92D4-E7759EA4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102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Built for sales, support, and measurable outcomes.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D83B1-4F63-4565-88FA-B9745E59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24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ruhanaai.com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64656-667A-4462-ACF1-911441EA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</p:spTree>
    <p:extLst>
      <p:ext uri="{BB962C8B-B14F-4D97-AF65-F5344CB8AC3E}">
        <p14:creationId xmlns:p14="http://schemas.microsoft.com/office/powerpoint/2010/main" val="1678969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3853FA-F350-4D0F-ADAB-D6072F43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02 ·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5F3AB-9096-4328-868E-469E8EE8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CED57-0FDC-4FFC-AFE2-55B88796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Customers do not want another barrier between intent and help.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2DD7E-F158-40EB-81B1-6DD86E12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5a53186cc4c7e">
            <a:extLst>
              <a:ext uri="{96DAC541-7B7A-43D3-8B79-37D633B846F1}">
                <asvg:svgBlip xmlns:asvg="http://schemas.microsoft.com/office/drawing/2016/SVG/main" r:embed="R9fb6f26158ca49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7C81D-21AB-4FB6-B6C9-27D83A40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3140F1-721F-4FF8-BB4D-FDC1DE26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FD7BF-76C3-4E4C-A69B-5BD37827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667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6FBB23-9CCD-4326-A092-8228DD73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857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E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0FB1A-1355-4A15-BBA0-DD7E951A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$3.8T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ED4A32-6A9B-4693-9558-A338CEC0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Sales at risk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BDC2D-7AFF-4DFD-8E6E-450D1DA8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Global sales exposed to bad customer experiences in 2025.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CEA5D-AF24-444A-AE3A-396EBBA1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81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749C79-F597-4981-9C6E-C509F8FF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09750"/>
            <a:ext cx="2667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1A137-DCA2-4EB8-854C-9C27E71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857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9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C0021-69F5-4955-9000-D42A5693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002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71%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4963B-8DF7-4933-A844-166D52C9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2887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The empathy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9271B-F7E3-45E5-8C8B-F73460C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241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Consumers prefer human agents over bots when empathy matters.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FE35A-60AA-45EA-B2BF-DD5A1610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81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22F0C-554C-4A5E-812E-E8D8AB5E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2667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10FC13-C4B7-4A23-BA4C-28B5393D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857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F0118D-6AD0-40C4-96BB-A74B3A43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195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55%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8A9A8-7FE5-4F97-8EC8-95BFC9A0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481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Loyalty breaks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8CA9F2-70F9-45C0-B30A-413F64FA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Would leave a brand after poor service—even when the product is good.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EBA944-7727-4E28-84DB-5B1180BD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00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32A84-762F-49C4-9A05-FE75741A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2667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A6BBC-6BA6-428B-877B-6453C1A9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85725" cy="1123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EB4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6BBCC1-E8BD-4D32-997F-F8553992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195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2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87%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150E8B-923E-4EDE-877A-E4880205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48125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Human access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358149-0371-46FC-92E5-08477B66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43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Say AI service must preserve a path to a human agent.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699BAB-059D-41D8-97BC-1BAAFF16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00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DA414C-DA11-4854-851F-776CB72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24450"/>
            <a:ext cx="55054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3D0153-92F6-4040-A418-6FB1DFC3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34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B8C6B1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B8C6B1"/>
                </a:solidFill>
                <a:latin typeface="Arial"/>
                <a:ea typeface="Arial"/>
                <a:cs typeface="Arial"/>
              </a:rPr>
              <a:t>THE STRUCTURAL FAILURE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760E00-906E-468A-97E0-14047529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57850"/>
            <a:ext cx="4857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Old bots know a script—not the page, the visitor’s intent, or the outcome the business needs.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3EE48A-92E5-4F96-85DB-A557A70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4389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C9CEC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9CECA"/>
                </a:solidFill>
                <a:latin typeface="Arial"/>
                <a:ea typeface="Arial"/>
                <a:cs typeface="Arial"/>
              </a:rPr>
              <a:t>They report conversations and minutes while revenue, resolution, and customer effort remain invisible.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c27d461ca84ca2"/>
          <a:srcRect xmlns:a="http://schemas.openxmlformats.org/drawingml/2006/main" l="15390" t="0" r="15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91300" y="1600200"/>
            <a:ext cx="6419850" cy="5219700"/>
          </a:xfrm>
          <a:prstGeom xmlns:a="http://schemas.openxmlformats.org/drawingml/2006/main" prst="roundRect">
            <a:avLst>
              <a:gd name="adj" fmla="val 3285"/>
            </a:avLst>
          </a:prstGeom>
        </p:spPr>
      </p:pic>
    </p:spTree>
    <p:extLst>
      <p:ext uri="{BB962C8B-B14F-4D97-AF65-F5344CB8AC3E}">
        <p14:creationId xmlns:p14="http://schemas.microsoft.com/office/powerpoint/2010/main" val="8357990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68787B-299A-40BA-8317-979B1583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03 ·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4DD43-2DF9-4C3C-896D-31937115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0B041-A07E-4B42-85F2-A9721EAD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 high-IQ video agent inside the exact moment a visitor is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3A870-80B4-43B3-848B-28E7DE26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03fbf65e5249c2">
            <a:extLst>
              <a:ext uri="{96DAC541-7B7A-43D3-8B79-37D633B846F1}">
                <asvg:svgBlip xmlns:asvg="http://schemas.microsoft.com/office/drawing/2016/SVG/main" r:embed="Radc2469e133f49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D6E704-2BBB-489B-9561-EFE6C8FD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A8A48-C8F6-4A57-ADEF-E809DD21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cd34c2f7b425c"/>
          <a:srcRect xmlns:a="http://schemas.openxmlformats.org/drawingml/2006/main" l="2413" t="0" r="24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1581150"/>
            <a:ext cx="6153150" cy="3638550"/>
          </a:xfrm>
          <a:prstGeom xmlns:a="http://schemas.openxmlformats.org/drawingml/2006/main" prst="roundRect">
            <a:avLst>
              <a:gd name="adj" fmla="val 471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86083-7EC0-4927-B9FD-67B17149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5619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Ruhana does not wait for the visitor to explain the page.
</a:t>
            </a:r>
            <a:r>
              <a:rPr sz="2325" b="1" i="1">
                <a:solidFill>
                  <a:srgbClr val="171A18"/>
                </a:solidFill>
                <a:latin typeface="Arial"/>
                <a:ea typeface="Arial"/>
                <a:cs typeface="Arial"/>
              </a:rPr>
              <a:t>It arrives with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B26EC-469C-49F1-A9BD-0DC80413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The agent sees what the visitor is viewing and doing, holds a natural face-to-face conversation, takes the next best action, and records the business result.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27011-42C4-4202-B6ED-8A7F42E5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72125"/>
            <a:ext cx="2876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B48DF-692F-4C68-9E8A-926F7979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12BCA0-14DD-4329-B959-51732AF4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1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See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60ABB-929E-4498-8366-49E008EB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389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Page, product, click and journey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006C5-3CFE-405F-9B6F-7DE631AB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572125"/>
            <a:ext cx="2876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72EA2-AB9B-49B1-AF08-2008AAF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7340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9D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B9CEB-AA21-48BC-92E2-3D6978B4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11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AA0AA-8C45-49CB-9ABD-2818E553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4389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Question, intent, readiness and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DDA5EC-6E86-42EC-9017-C40F49A1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72125"/>
            <a:ext cx="2876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F357D-5572-4EA8-8EEF-BEDC6A9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7340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7E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4019C-3778-4BA1-9714-32240444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11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0CB83D-D418-4B6B-ACE3-8362B85A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4389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Qualify, recommend, book, capture or hand off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193081-075E-4953-B443-1778468C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5572125"/>
            <a:ext cx="2876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157CF-E844-45CB-8EE1-7BA61247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7340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EB4B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1B8CC-3580-4D5F-922D-DA41630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6115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130397-E9C4-4186-A431-87147505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64389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Revenue, resolution and outcome analytics</a:t>
            </a:r>
          </a:p>
        </p:txBody>
      </p:sp>
    </p:spTree>
    <p:extLst>
      <p:ext uri="{BB962C8B-B14F-4D97-AF65-F5344CB8AC3E}">
        <p14:creationId xmlns:p14="http://schemas.microsoft.com/office/powerpoint/2010/main" val="16686499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AF2AC8B-0DE1-446F-8BBA-790A1FDC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04 · 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88E9B-5BB7-4FDD-A734-FE32C4B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18093-045A-4D87-891D-EBBA06DB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Four technology curves and one buyer shift are converging.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38BE2-1A24-4F17-A1E0-B37812D1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9dfc2f569415e">
            <a:extLst>
              <a:ext uri="{96DAC541-7B7A-43D3-8B79-37D633B846F1}">
                <asvg:svgBlip xmlns:asvg="http://schemas.microsoft.com/office/drawing/2016/SVG/main" r:embed="Rd90cecb2b05640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3D432-5E9D-4C90-8AE3-79B40ACF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21080-29BA-42BB-86C6-21C32531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BFB11-EEE5-419B-98CE-99B2395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B6728-92DB-453D-8A75-42249DBCD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Expressive in real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E8324-70B7-49CF-AA7F-878D4D96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Video and voice models now sustain live, interruptible, emotionally legible conversation.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5D559-E6BD-49F1-AB0E-50091D59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38250" y="26574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756582-F2BE-4E67-98EA-37BD38B7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E0780-05C8-4BB8-8BC0-3D53BB1A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717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Intelligence is affordable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EF4C3-46F5-44CD-9B0D-5F6E1090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9562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Language models can reason over products, policies and objections within SaaS unit economics.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977C9-8ABF-48B5-BFE0-17B31584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38250" y="36385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F87403-4E92-4B0D-831F-64F3B07D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56A02-5329-4C45-A1A4-A595020B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browser is observable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640B7-1BFC-4F6D-B3BF-205BDC71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7670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First-party page, click and journey signals can shape the conversation while it happens.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0BE23-2153-4FC0-84B1-23FE2B71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38250" y="461962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3BEAF-4C6C-4215-B8F0-A466CDD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29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48ACE3-ED87-468F-9A9B-2B94A4E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Customers expect 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C20067-F783-42B8-B973-AE740322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57775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58% of GenAI users have used it to complete a task; the figure reaches 74% in B2B.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E6813-B049-4E82-BAC6-D328D22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238250" y="56007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727B1-F1DE-4528-9CCF-E96DAFCF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BE7394-3048-47CB-AB28-64FF3408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15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category is opening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283EE-2C1A-41D8-B13F-DDD2723F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452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Avatar-based online customer service is forecast to grow at 31.2% CAGR through 2033.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A45E1D-C30D-4053-A42A-79534734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6248400" cy="49530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9ECA57-1F81-480B-826D-8ECFDD68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95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THE THRESHOLD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4F3FD-999F-46B4-BA8C-8AF6229B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3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From interface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23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to presence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FD777E-CD5F-402C-BA96-0876BB0C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14700"/>
            <a:ext cx="1943100" cy="1943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0">
            <a:solidFill>
              <a:srgbClr val="101412"/>
            </a:solidFill>
            <a:prstDash val="solid"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0a6b1ad154813">
            <a:extLst>
              <a:ext uri="{96DAC541-7B7A-43D3-8B79-37D633B846F1}">
                <asvg:svgBlip xmlns:asvg="http://schemas.microsoft.com/office/drawing/2016/SVG/main" r:embed="Rd4634566ce0b4f8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220325" y="3857625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F37612-B364-461F-8D8E-9C4C132F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95800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AGENT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3A1D9-19BE-42D4-A16B-6D586AA2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09950"/>
            <a:ext cx="14287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C74AF7-975F-408E-8C0E-42462A24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814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FACE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E05723-3F6E-4AAF-8296-8ED201E6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1398F5-0B37-4D3F-A7AB-C9B59260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391525" y="3848100"/>
            <a:ext cx="2085975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27A73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00283-97DC-4AD2-8373-6E683B1A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33650"/>
            <a:ext cx="14287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3BDC1A-16F2-49CD-9A10-9CFF64EB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7051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376B5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376B5F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7F7F1A-0854-4116-A565-282D0889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9527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Natural turn-taking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FF620-7E5F-4353-A9E5-DA1BF2E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77500" y="2971800"/>
            <a:ext cx="105727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76B5F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44E3C7-3EEF-4E02-BA95-2AC8052B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14287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F466FD-15A8-4502-BCC8-A83EF8AB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41020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MIND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35671F-35A5-4588-B8F0-B20AA3E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6578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Goal reasoning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A5471B-492A-4922-A0F4-17AAD158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477500" y="4286250"/>
            <a:ext cx="1438275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9DB2"/>
            </a:solidFill>
            <a:prstDash val="dash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CA94841-165C-478D-B81B-CC917EBB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81625"/>
            <a:ext cx="142875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F061D0-7083-481A-A5BF-7C427CEC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553075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4BF6AC-C6B0-4EBD-83C0-D679A20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0072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Page + intent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0BE240-EA52-408F-9CC4-0D49151D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181975" y="4286250"/>
            <a:ext cx="2295525" cy="1533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77E5D"/>
            </a:solidFill>
            <a:prstDash val="dash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E3C64A-27A3-4FF8-BFE8-62104052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484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E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NOW</a:t>
            </a:r>
          </a:p>
        </p:txBody>
      </p:sp>
    </p:spTree>
    <p:extLst>
      <p:ext uri="{BB962C8B-B14F-4D97-AF65-F5344CB8AC3E}">
        <p14:creationId xmlns:p14="http://schemas.microsoft.com/office/powerpoint/2010/main" val="1845350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6C5E9C-7668-4797-8510-B55A9B4F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05 · MARKET SIZE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CF366-1BF8-4D0D-BB86-A1117B06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Market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04455-0568-428C-B8C1-3AA25A5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 focused wedge inside a fast-expanding conversational interface market.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442F4-5CB7-4B30-992D-9A16240F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8ea1b51d144492">
            <a:extLst>
              <a:ext uri="{96DAC541-7B7A-43D3-8B79-37D633B846F1}">
                <asvg:svgBlip xmlns:asvg="http://schemas.microsoft.com/office/drawing/2016/SVG/main" r:embed="R2dbf6751145e45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311F5-5B49-4FE0-860B-B89B97B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970D4-4CBA-4652-A330-C386E624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D97DC-2E6B-43BE-8A79-9669DCCC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562100"/>
            <a:ext cx="5562600" cy="556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6D4EA-0848-4DCB-BED7-130A377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2860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47625">
            <a:solidFill>
              <a:srgbClr val="F7F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4A51C-7B7D-4C4F-A08B-17BED118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086100"/>
            <a:ext cx="2514600" cy="2514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47625">
            <a:solidFill>
              <a:srgbClr val="F7F5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5ABDA-2553-4602-B1E2-41AEC286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28800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TAM · $41.4B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72A320-F1D5-4ABF-AC15-1C70B800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105025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2030 conversational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44D57-ECEA-4FBA-9C4A-5B78F789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098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SAM · $1.04B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DD43D-C57E-4693-9E6A-9901982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876550"/>
            <a:ext cx="2590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2030 avatar-led online CX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F6F4CD-E89D-4BDD-AA6D-2D2726DF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52850"/>
            <a:ext cx="800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SOM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9434E-F493-4397-AB04-9082A88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0195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6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$10.4M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3AB65F-8460-457F-AAB0-94A2D8A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52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1% of SAM objective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DB46CF-1E13-44B7-BDBA-76115DE9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Land in the decision.
</a:t>
            </a:r>
            <a:r>
              <a:rPr sz="2550" b="1" i="1">
                <a:solidFill>
                  <a:srgbClr val="171A18"/>
                </a:solidFill>
                <a:latin typeface="Arial"/>
                <a:ea typeface="Arial"/>
                <a:cs typeface="Arial"/>
              </a:rPr>
              <a:t>Expand across the journey.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E1788C-7189-4E6D-BC1A-819E8B62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524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starts with sales and support conversations on high-intent website pages, then expands into onboarding, retention, service navigation, and enterprise knowledge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B84DC6-A8C7-472C-963D-503F48FA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31.2%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77313-A3F4-46D9-84BC-E9B21AA2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7339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Avatar customer service CAGR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8287BF-DAC0-4A9A-B593-AB50782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23900" y="5210175"/>
            <a:ext cx="422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9F6B6D-B6C3-41B8-92A0-92FF06D7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$267.9M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C764D-0FEF-4661-B693-45F7A9F0F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387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Category revenue in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2CBD5-85C0-4ED6-A169-061FB0F6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23900" y="5915025"/>
            <a:ext cx="422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B9114E-A86B-4F62-91D5-3BD74D24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$2.37B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80AB18-76C8-49C7-AE35-52631ABD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14362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Category forecast for 2033</a:t>
            </a:r>
          </a:p>
        </p:txBody>
      </p:sp>
    </p:spTree>
    <p:extLst>
      <p:ext uri="{BB962C8B-B14F-4D97-AF65-F5344CB8AC3E}">
        <p14:creationId xmlns:p14="http://schemas.microsoft.com/office/powerpoint/2010/main" val="17222274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218A6F-AEBF-46A5-BF1F-88794DED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06 · TARGET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F0494-C8A9-4BF0-910A-EB5D8090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Target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1B8305-872C-443E-9BC1-1678CEAE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Start where the visitor's intent is visible and the result can be measured.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D10E6-2C48-4810-AB72-ADBC39E1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b9bdabbc54b67">
            <a:extLst>
              <a:ext uri="{96DAC541-7B7A-43D3-8B79-37D633B846F1}">
                <asvg:svgBlip xmlns:asvg="http://schemas.microsoft.com/office/drawing/2016/SVG/main" r:embed="R6c11e816434147d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FEE70-CB94-4CDD-B864-080B8D3D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B7FEE-CE7E-4630-BEE7-215728FB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EBC6F-E1C2-4A09-B598-CCF1436E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2306300" cy="4857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F8E37-423F-4BAD-9C70-B93B346B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908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08c5deba14278">
            <a:extLst>
              <a:ext uri="{96DAC541-7B7A-43D3-8B79-37D633B846F1}">
                <asvg:svgBlip xmlns:asvg="http://schemas.microsoft.com/office/drawing/2016/SVG/main" r:embed="Rb145282144f945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05575" y="37147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C404F-BFD6-460F-B555-2F54CFBB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52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HIGH-INTENT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 JOURNEYS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8A68B-4A54-465C-95CD-68F06B9E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3352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539B6-2726-4588-A616-65933ED6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ABF8E-0F80-49EE-8186-0B38D548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574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BC511-B1BD-45FA-8100-AFF59608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43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Retail &amp; e-commerce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CCAD64-9264-4FC2-8D70-93722AE6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956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Discovery · comparison · cart recovery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C2BDE2-B994-4BB9-9291-58937F04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33900" y="292417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77E5D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000E1-D648-4A33-A22B-479363E8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43150"/>
            <a:ext cx="3352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2B495-987E-49C5-865E-8889F3B6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33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2F090-9CFA-4D3D-BF2D-00E4669C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574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35E772-B83E-4D48-AE1C-E1FA6C23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431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B2B SaaS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AAD50-2016-41AD-A16D-256C1FB3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9560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Qualification · demos · onboarding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A0C59-366D-4AB7-BC23-997F9D0C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324850" y="292417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27A73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CFA18-C133-4FB7-846C-EFC352AC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3352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3FAC87-AB13-438A-8274-4C0D9EF6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74BBE-2C20-4FF2-B142-5E1AF979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197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3EDBE3-28BC-45E2-8F93-7965ED89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305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Financial &amp; public services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3453A5-3A41-4DEC-945C-F8ADB9FC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6578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Guidance · multilingual access · private deployment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FACF76-4715-467E-AE8C-4EB63E7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33900" y="5686425"/>
            <a:ext cx="83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EB4BC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812C2-CD75-4202-BA7B-68F66521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05400"/>
            <a:ext cx="33528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D6A55A-D299-4B9C-9609-727E1E0F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959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C437A1-E938-4DAC-AEFE-4F459852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4197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7CB7A6-BDDB-4C7A-BAE8-854C0112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3054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Education &amp; services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9FDF7B-1D33-4C47-9B7A-445BA382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657850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Advisor · intake · scheduling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E43E1D-60F7-4283-B76A-631BF752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324850" y="5686425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9DB2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232E80-DA92-4BFB-8515-EE7B67DC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8580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Visible intent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3DD402-B144-46B9-B227-A6D28241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68580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Repeat questions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F85B34-B363-42D7-97AB-32598791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68580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Clear next 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80EB2F-3D99-4C1F-B993-9907CAFF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6858000"/>
            <a:ext cx="2095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Measurable value</a:t>
            </a:r>
          </a:p>
        </p:txBody>
      </p:sp>
    </p:spTree>
    <p:extLst>
      <p:ext uri="{BB962C8B-B14F-4D97-AF65-F5344CB8AC3E}">
        <p14:creationId xmlns:p14="http://schemas.microsoft.com/office/powerpoint/2010/main" val="2660375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C43D3E-6FD0-4920-8BCE-2B29EA92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07 · COMPETITIVE 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7833B-ED8D-4DDA-8845-C8500186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Competitive Landscape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F80ED-9FCE-4B8C-BB8A-A5020780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The category is strong at embodiment or orchestration. Ruhana joins both around outcomes.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AC49F-ADE9-469D-AD04-4D13123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c28b021864f1d">
            <a:extLst>
              <a:ext uri="{96DAC541-7B7A-43D3-8B79-37D633B846F1}">
                <asvg:svgBlip xmlns:asvg="http://schemas.microsoft.com/office/drawing/2016/SVG/main" r:embed="R42a068bf61b149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9EEDB-807C-46CC-9658-5587C40B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A6AE3-D9E0-4B0B-894E-9F3779A1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46447-FBD0-4585-88B5-4D53795F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8191500" cy="4972050"/>
          </a:xfrm>
          <a:prstGeom xmlns:a="http://schemas.openxmlformats.org/drawingml/2006/main" prst="roundRect">
            <a:avLst>
              <a:gd name="adj" fmla="val 421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71A7C-D06A-44DD-830F-FACE7C59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524000" y="6191250"/>
            <a:ext cx="661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A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C5BB5-A398-47A4-89C1-30628AAC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524000" y="23812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1A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EF09AA-EBB3-46C0-A011-F39819B9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81750"/>
            <a:ext cx="2343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750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Business orchestration 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5207E2-24F2-4B10-A7E3-74442C1A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82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Embodiment quality 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A5040-BF38-4F05-B54D-F1A3E804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9625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B4BC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F7558-4272-4C43-8A71-93C0DBB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16255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Chatbot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platforms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E7FC9-3632-4DA3-AC72-60EF368B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575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DB2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C45431-FDB0-4C9A-B010-F3060CD9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48000"/>
            <a:ext cx="60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Avatar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FF664-563B-43AC-B4BB-1BF65F24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7908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E5D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96965-6562-4BD2-AE8F-89E25654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90850"/>
            <a:ext cx="62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LemonSlice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E46B9-4ECF-4310-8231-DEB5788A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765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6B1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0FF347-2828-48C7-8558-DA6B1B5C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385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3BD0DD-C820-4688-9FDB-41F6F755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4479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B4BC"/>
          </a:solidFill>
          <a:ln xmlns:a="http://schemas.openxmlformats.org/drawingml/2006/main" w="19050">
            <a:solidFill>
              <a:srgbClr val="F7F5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03BBA3-A353-442D-8995-A87A7D60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686050"/>
            <a:ext cx="704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Tavus /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7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LiveAvatar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2B9AB3-DF9F-4241-AA80-3DC6A73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8595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47625">
            <a:solidFill>
              <a:srgbClr val="F7F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77099-1670-450E-8374-93933615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9800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8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RUHANA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574FF-03D2-4806-BC2F-BCEC8C02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05550"/>
            <a:ext cx="495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A09B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FCC430-046F-4128-AB8E-8B1993FB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305550"/>
            <a:ext cx="5524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AA09B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E87A83-595A-409F-B4ED-0813AA1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90700"/>
            <a:ext cx="3771900" cy="49720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11F4A1-2DD0-4E9D-8F64-3F533C87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B8C6B1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B8C6B1"/>
                </a:solidFill>
                <a:latin typeface="Arial"/>
                <a:ea typeface="Arial"/>
                <a:cs typeface="Arial"/>
              </a:rPr>
              <a:t>RUHANA'S WEDGE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DEBA80-9A3F-4058-8B0E-FB95FC18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3105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7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customer-success system with a face—not a face waiting for a system.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49298-5E14-45C7-AFD6-A9317AC8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95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C0029-CEBB-4A4A-A90D-AAC21AD3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6861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page + journey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1DEC06-C614-410D-BE87-2C976CFE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29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C4BC2-FA58-4AA2-914F-E89C5469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19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Goal-directed sales and support actions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6403C-507C-4896-9619-D4CF3D8B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A0BB3A-61F9-49AD-B395-74E59CBF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52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Revenue, resolution and intent analytics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E45067-3D30-42D2-84DE-5EFFA71C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959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419E92-7C5D-4025-B061-59A23A54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286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Four-step no-code deployment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A95542-D99E-4A41-AFDF-263A1DF0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8293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3CD43E-E05F-4FF5-808E-C672F85C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819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Private enterprise pathway</a:t>
            </a:r>
          </a:p>
        </p:txBody>
      </p:sp>
    </p:spTree>
    <p:extLst>
      <p:ext uri="{BB962C8B-B14F-4D97-AF65-F5344CB8AC3E}">
        <p14:creationId xmlns:p14="http://schemas.microsoft.com/office/powerpoint/2010/main" val="19350188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4A0CC1-32EB-4AF4-BAF5-55CC0A6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08 ·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CFC34-D359-46AB-A3FF-906EC24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E1E48-984E-49DE-B1D3-18ECB645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 closed loop from observable intent to measurable customer outcome.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0B7D3-3140-4A48-8411-970A4189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294d4d091460b">
            <a:extLst>
              <a:ext uri="{96DAC541-7B7A-43D3-8B79-37D633B846F1}">
                <asvg:svgBlip xmlns:asvg="http://schemas.microsoft.com/office/drawing/2016/SVG/main" r:embed="R5d11dcfc48e843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EA72-AF58-4D29-9D9E-316359BE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D78DA-CF33-442A-A7DD-694F9D71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599B7-DCC4-42AB-B3A6-7F342D6E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22479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F01A82-3283-44F0-A387-0508D197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EB4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59694-65D2-4B97-947F-7540AB93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39316-F26A-40D0-A619-B0786677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Page · clicks · scroll ·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76D78B-9D8B-4966-A02B-F62859A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2952750" y="2571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1A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04AD9-B6C2-4692-BE73-7E08567C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74D60-0A5B-4ACB-AEB4-9587181D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28800"/>
            <a:ext cx="22479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99B78-4459-4CC2-BE19-F9AAD38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FA2B8-DB72-4EDA-B9FB-08D33855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DB0ED-C4DA-4BA5-B8B1-B5A60424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Intent · question ·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476E50-8FEB-48E4-9010-AF58F429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410200" y="2571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1A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D112A-D99B-41DE-A76D-B87C6C34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CA4CE-2893-4BDC-9553-BD7B7AFC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28800"/>
            <a:ext cx="22479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ED7029-05EC-4707-9FD9-11761611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002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76B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76B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8A408-28C8-47B0-971D-FF309EAD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19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376B5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76B5F"/>
                </a:solidFill>
                <a:latin typeface="Arial"/>
                <a:ea typeface="Arial"/>
                <a:cs typeface="Arial"/>
              </a:rPr>
              <a:t>Converse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6D309-990A-4D2B-9E86-BC0680CF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Video · voice · text · language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12BED-858A-4D51-B056-7C79661E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867650" y="2571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1A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002542-FC7C-445A-80A6-659C69D8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1A61A-5B02-4FC8-B276-75B2450F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28800"/>
            <a:ext cx="22479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673036-E6FE-4EA2-AA31-997D3A10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002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7E5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2B28B1-587F-442B-A9CC-4BC29A99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19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CF41AE-7B9D-472C-A7C4-7A44F9EE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Qualify · recommend · book · handoff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A231A8-C7B5-4B04-A538-0ACFC1C2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325100" y="25717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71A1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7E3A7-D0A7-4285-B6D6-1DA1B489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33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576B0E-4636-4953-AFDE-CD19FA02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828800"/>
            <a:ext cx="2247900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0FD698-16F5-4120-8E7C-84FF4884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000250"/>
            <a:ext cx="400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9D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FAF944-42A3-4486-80C3-40006993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419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CA885D-3B05-4DB5-A333-BDA93E4C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0035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Revenue · outcome · resolution · journey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2BCE75-BC4D-4F4D-9C95-2B298E27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230630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D9CC5E-7B91-42F9-8BAE-71646E01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671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product already connects the loop.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331C03-50D3-498C-ABB8-6F28656D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0" i="0">
                <a:solidFill>
                  <a:srgbClr val="C9CEC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CECA"/>
                </a:solidFill>
                <a:latin typeface="Arial"/>
                <a:ea typeface="Arial"/>
                <a:cs typeface="Arial"/>
              </a:rPr>
              <a:t>Four-step agent builder · embeddable website widget · live transcripts · action capture · business-impact analytics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417052-3CAB-4E5F-8BDB-A07FB54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48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3F349E-2C8E-49FD-AEF1-B64A960D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Page context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8F8131-6FD1-4308-B1E9-1567BBF8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19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Current page, visible section, last click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13F8E6-59FE-4380-9F6E-FC9123A7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8BBBE5-ED8B-45A3-843C-8F378F68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67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Journey memory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0359C0-F8FB-4230-B7D0-4B531693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67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Views, time, scroll depth, interactions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B16E87-11EB-4B7A-A5B9-B94BA07B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43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E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D79222-6023-43B9-979A-CD813F27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150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Outcome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36FD14-5E3B-42CE-97F8-F6246EF0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115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Lead, booking, purchase, resolution, handoff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4a7d6c0d44eb7"/>
          <a:srcRect xmlns:a="http://schemas.openxmlformats.org/drawingml/2006/main" l="0" t="9335" r="0" b="93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3810000"/>
            <a:ext cx="6667500" cy="2667000"/>
          </a:xfrm>
          <a:prstGeom xmlns:a="http://schemas.openxmlformats.org/drawingml/2006/main" prst="roundRect">
            <a:avLst>
              <a:gd name="adj" fmla="val 5000"/>
            </a:avLst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D3BAE3-E2AB-4073-93F4-1911005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43675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675" b="0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0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Actual Ruhana analytics interface</a:t>
            </a:r>
          </a:p>
        </p:txBody>
      </p:sp>
    </p:spTree>
    <p:extLst>
      <p:ext uri="{BB962C8B-B14F-4D97-AF65-F5344CB8AC3E}">
        <p14:creationId xmlns:p14="http://schemas.microsoft.com/office/powerpoint/2010/main" val="9424367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66E80C-D563-4E2C-989F-FE3B9C22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09 ·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AB8CA-EB1C-4407-9ED7-AC9CAAA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F86FA-F781-4F47-B22D-0A871DB4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Recurring platform revenue, connected usage, and enterprise deployment.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1B1D2-E805-4E37-89EF-944BE748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7fb18ce634eee">
            <a:extLst>
              <a:ext uri="{96DAC541-7B7A-43D3-8B79-37D633B846F1}">
                <asvg:svgBlip xmlns:asvg="http://schemas.microsoft.com/office/drawing/2016/SVG/main" r:embed="R816d7fa76f034a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E679B-3B26-4DE6-948A-B74CB2C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8DDF7D-F503-45B8-A9E7-C7B82431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1F2CB-F3E0-4B51-9700-0765180F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56578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08A51-7C0E-4163-99F4-B8EB37C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01 · RECURRING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545C2-9C79-45C0-B8AF-D8B7DF39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Platform subscription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C030F-6DDA-423E-AFE6-EDA279EE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Pays for the business system around the agent—not just the face.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380DA-297E-44FA-8BDF-58D1BCCB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5BC46-397F-4403-BFCD-EE91E27F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052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DDB14-9513-4D3A-8DBD-B09209E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Agents + websites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FD849-CAA2-4DEA-B875-212135A7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14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941AC-206E-4DB7-B868-98401861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052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853D1-0B9A-41AA-8F29-7B59CA52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957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Builder + deployment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4F5D7D-D582-415E-AE4E-EB5C9808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2E9BE-5314-4B66-BD04-C986A2FC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1451B-33ED-4168-9541-F7793BF4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Conversations + transcripts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EC66E8-FC1D-4D04-A537-449B7D8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67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97513-EB99-4237-B5AF-1EF48705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576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6D11E7-5352-4674-949D-B302FEC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4815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Outcome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58DBFF-B454-4F6F-AC4B-7BBD274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64579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BEB6E-7FE9-48F4-9807-621B72BA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02 · VARIABLE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C7C70C-0845-4805-BB5F-A428B489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Connected usage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AC9ED-0967-4ADB-9345-97039FC8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956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 i="0">
                <a:solidFill>
                  <a:srgbClr val="C8CFC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8CFCA"/>
                </a:solidFill>
                <a:latin typeface="Arial"/>
                <a:ea typeface="Arial"/>
                <a:cs typeface="Arial"/>
              </a:rPr>
              <a:t>Included minutes create predictability. Overage lets successful agents scale without plan friction.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3C5632-4846-4159-8725-92B8E8E1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$0.13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198076-005C-413B-895C-140EA58A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529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Estimated all-in connected-minute cost at pooled production utilization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257650-49F7-4E85-A48E-F84485BC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$0.26–0.32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B462F-B01E-4606-B033-EF405E13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529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Published Ruhana overage range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74A60-0385-4BAD-B773-F2BFDD55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50–59%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47FB7E-BFDB-4D91-98C9-0748182B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5290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Gross margin on incremental usage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A5A5A9-6E3D-4C34-9106-C04468D4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2306300" cy="1504950"/>
          </a:xfrm>
          <a:prstGeom xmlns:a="http://schemas.openxmlformats.org/drawingml/2006/main" prst="roundRect">
            <a:avLst>
              <a:gd name="adj" fmla="val 12658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B0B29B-9846-4BDC-9784-965F62D0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376B5F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376B5F"/>
                </a:solidFill>
                <a:latin typeface="Arial"/>
                <a:ea typeface="Arial"/>
                <a:cs typeface="Arial"/>
              </a:rPr>
              <a:t>ENTERPRISE EXPANSION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1FECBB-7EB4-41E9-A23D-FB2357A1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Private cloud / on-premise · SSO and governance · custom integrations · success engineering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DEE635-E8AD-4BDF-9733-98BD455C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686425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HIGHER ACV</a:t>
            </a:r>
          </a:p>
        </p:txBody>
      </p:sp>
    </p:spTree>
    <p:extLst>
      <p:ext uri="{BB962C8B-B14F-4D97-AF65-F5344CB8AC3E}">
        <p14:creationId xmlns:p14="http://schemas.microsoft.com/office/powerpoint/2010/main" val="13068746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81F5587-413F-424C-953E-4D310290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10 · PLANS &amp; PRICING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7BEBB-B62A-4B0F-A305-1CDDE332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Plans &amp; Pricing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E1D23-3B39-4268-A858-93D0107B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Simple paid tiers. Business analytics are included from day 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02E25-B6FF-4C34-91BB-6536478F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6a1834d854d53">
            <a:extLst>
              <a:ext uri="{96DAC541-7B7A-43D3-8B79-37D633B846F1}">
                <asvg:svgBlip xmlns:asvg="http://schemas.microsoft.com/office/drawing/2016/SVG/main" r:embed="R3591e4e56a0546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683790-6A4E-4A13-96F6-680FE116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B6F7B-92E7-480A-BFA5-469AB7CC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A0F5B-20E3-4A59-B418-582AD09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2876550" cy="49530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C468D-C74F-4FB7-B119-2E4A724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2876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EB4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52E51-0AEA-4BE2-B2A2-F6A35704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Launch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F2279-47D5-4CDB-B74B-988E3915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6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$39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95A74-0A89-4273-80C3-9B606A7A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C3A6F-DF25-4C00-BC8D-E5A84B62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0425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100 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6AA87-CC21-489E-A90E-2FB16E43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1 agent · 1 website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171290-E4DB-40EC-A749-48037F31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914400" y="42291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122531-860F-4E17-82D8-F58108C3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DFC2A-BCFD-4731-8E37-A22966D1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Lead, booking and resolution outcomes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A5F94-682D-458B-9860-CE11B09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67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83B8E-6E6B-48F7-B000-64D9E62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D00DAA-A8E6-4EC3-87EE-41323B62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1 concurrent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708DD-C75B-459E-A58F-CBDAC233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2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061370-34CF-4918-A5B3-5B87D104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1609A8-5C65-41CB-9D38-BBADA492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007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avatar or own photo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83D55-CC92-41AE-BA7C-C457A62E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9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4D459-02E0-49E3-BDC7-A088774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817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CA5121-CB22-4C95-9DEC-F24FC10F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Transcripts + email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0BCD0B-6F63-4993-82BF-CCC71D37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19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$0.32 /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8A0A8-796D-41A6-ABD7-962F6CA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71650"/>
            <a:ext cx="2876550" cy="49530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9525">
            <a:solidFill>
              <a:srgbClr val="10141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3F6151-219D-4617-9539-7CEEE54C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71650"/>
            <a:ext cx="2876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7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A3435-9644-436F-83AD-6188C2E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57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Growth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71C78-C1B4-43AA-9D97-04758E25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0383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E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MOST USEFUL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C536BF-DD12-43DF-B10E-B690B7F1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33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6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$129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B2CA99-093F-4B35-AD46-5FE5C6A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028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AAB2AD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AAB2AD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3C84A5-C5C1-4922-87B9-B0991833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00425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400 min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C8DB93-1954-4CDE-B359-DB00A4A5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agents · 3 websites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7076364-EDEE-4F14-9BDB-A024F457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990975" y="42291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343A3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21DD92-6760-4CB4-BD24-6BF421AD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38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7DAC4D-8E4C-41E4-904B-0ED6AFFD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76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Journey funnels + agent comparison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369AEB-C2F9-4E53-898A-8CB418A5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67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F6AE19-3CC3-4CA4-858B-F6A0298F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2578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E9D6B5-968E-486A-8F63-62B92156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2387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D7DCD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7DCD8"/>
                </a:solidFill>
                <a:latin typeface="Arial"/>
                <a:ea typeface="Arial"/>
                <a:cs typeface="Arial"/>
              </a:rPr>
              <a:t>3 concurrent sessions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62DD2C-D6CC-4668-ADBC-85009ECA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2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E17E4B-C65B-46D2-AA71-6E77ACA7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721A4B-E150-4FAA-A640-E9928D88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6007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D7DCD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7DCD8"/>
                </a:solidFill>
                <a:latin typeface="Arial"/>
                <a:ea typeface="Arial"/>
                <a:cs typeface="Arial"/>
              </a:rPr>
              <a:t>Integrations + custom actions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F62679-1B2E-4F30-8749-EADAC92B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9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38E884-B2F4-42AE-B9B4-986286B3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817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6F7F7DE-7EAA-4C5E-9056-A87B28DB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9626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D7DCD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D7DCD8"/>
                </a:solidFill>
                <a:latin typeface="Arial"/>
                <a:ea typeface="Arial"/>
                <a:cs typeface="Arial"/>
              </a:rPr>
              <a:t>Priority support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31A9E1-1ED7-4FFD-89CE-6DE35FCA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19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$0.29 / min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D8C66D9-60F0-47AD-BA60-69968477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2876550" cy="49530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3A1995C-274D-42BF-8384-1C3C8F3A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71650"/>
            <a:ext cx="2876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E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15A120-5FCB-4B88-8F0C-C6717E9E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57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CE59709-48B8-4392-ADFC-852D5956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33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6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$349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2768E1-0722-45AC-98A4-4476E9EF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55DA2F4-B870-4E65-A2F3-531C405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0425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1,200 min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CCB065-5C9E-4230-A4D2-1E195EEE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10 agents · 10 websites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9153597-FFB8-4626-AD9E-92874EE7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67550" y="42291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C54DAF-6F0F-451B-8ECF-86BFE8C2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38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CB35AC-9477-4739-BE2B-C67BB56E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76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Revenue attribution + exports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7E4BC7-BAF3-41B0-8CCD-DEBD502F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67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6FA3C27-2298-4CA4-B088-A89F65C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2578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C6A0A9-F782-485A-964E-28A87D89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387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6 concurrent sessions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027503-163C-48BB-8211-7D0B97F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2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9AE17D-CB7F-4F35-AD6C-2757C82F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19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B30D648-CC5C-4ED2-8AA9-D7E1009C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6007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Webhooks + team controls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F64A2DC-E579-40A3-83A8-A50C0B88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9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2C95D1-B40A-488D-8470-351D4B0D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9817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1E55DB-CEFF-4D0F-9102-8560A1AC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9626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Launch review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B68023-9428-4D1E-AB4D-A4D4D615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419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$0.27 /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64F2D1-61E2-4612-B614-199F46AF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771650"/>
            <a:ext cx="2876550" cy="49530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5806601-033C-43EE-BFEB-45BB634E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771650"/>
            <a:ext cx="28765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9D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3005E42-17CC-467F-8CBD-A803353C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0574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AF0346C-2D7F-4645-8373-BA54B855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33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From $999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965022F-85AD-4971-83CD-476327EF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0289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/ month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8B523E-DA8B-4C51-858C-4CD77D79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400425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3,500+ min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D2C2C0-A6FA-44F2-A9BB-2FBD7595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829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Custom agents + websites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525014A-C10C-479E-BD03-DF875AB5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144125" y="4229100"/>
            <a:ext cx="245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EAA36E1-6AFB-462A-9E4C-9DFE2C3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4386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ANALYTICS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AAF242-5A7C-44C6-887F-A3F88ECB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767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Custom KPI model + governance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C4BA8B-A211-44A0-9FDD-61BBA84C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267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04BBC9-25A5-44A5-98A0-01DC7142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2578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875F2C-05FC-4560-AE70-656D59C6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2387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Private cloud / on-premise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7564F2-4895-4BF6-BA9F-0F03DD57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29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9575DAC-21C1-427F-BEA9-87D116A2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61975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7D6850-9DA4-4FD3-975B-BABD530D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6007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SSO, SLA + custom concurrency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0C93226-624A-4D0B-94A3-A5DD2FA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991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4843616-0024-4582-ADE1-2AC53F2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981700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675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653F172-E540-4536-993B-2A33AE2C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596265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Success engineering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71EB8C4-41AE-4B5D-BC0E-55CB8E5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19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From $0.26 / min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833F8EF-F5F7-4950-A85F-910C9FD8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96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USD · Monthly billing · Connected minutes are billed by actual session time · No free plan</a:t>
            </a:r>
          </a:p>
        </p:txBody>
      </p:sp>
    </p:spTree>
    <p:extLst>
      <p:ext uri="{BB962C8B-B14F-4D97-AF65-F5344CB8AC3E}">
        <p14:creationId xmlns:p14="http://schemas.microsoft.com/office/powerpoint/2010/main" val="2068483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A66B8-57C2-4817-A735-10CF4E5D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11 · PROJECTED FINANCIALS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E5E6B-0C58-4381-A2CC-57824DB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Projected Financials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E0C3CD-DAD6-44BA-89AA-83D7A31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 disciplined base case, driven by paid accounts and improving pooled utilization.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EF352-E7C4-442E-BF36-D9BB59FE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f131da45742af">
            <a:extLst>
              <a:ext uri="{96DAC541-7B7A-43D3-8B79-37D633B846F1}">
                <asvg:svgBlip xmlns:asvg="http://schemas.microsoft.com/office/drawing/2016/SVG/main" r:embed="Rc6134cb9987e47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4BEFF-D068-464E-854B-490BB119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D0759-52A3-4882-862C-E001BD09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704850" y="1885950"/>
          <a:ext xmlns:a="http://schemas.openxmlformats.org/drawingml/2006/main" cx="1230630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1304925"/>
                <a:gridCol w="1304925"/>
                <a:gridCol w="1304925"/>
                <a:gridCol w="1304925"/>
                <a:gridCol w="1304925"/>
                <a:gridCol w="1304925"/>
                <a:gridCol w="1304925"/>
                <a:gridCol w="1304925"/>
              </a:tblGrid>
              <a:tr h="53612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Q4 ’26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Q1 ’27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Q2 ’27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Q3 ’27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Q4 ’27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Q1 ’28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Q2 ’28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Q3 ’28</a:t>
                      </a:r>
                    </a:p>
                  </a:txBody>
                  <a:tcPr marL="76200" marR="76200" marT="95250" marB="95250" anchor="ctr">
                    <a:solidFill>
                      <a:srgbClr val="101412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End customers</a:t>
                      </a:r>
                    </a:p>
                  </a:txBody>
                  <a:tcPr marL="133350" marR="952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35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75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130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220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330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470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650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Quarter revenue</a:t>
                      </a:r>
                    </a:p>
                  </a:txBody>
                  <a:tcPr marL="133350" marR="952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$2k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$7k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$18k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$36k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$67k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$113k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$175k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$260k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Gross margin</a:t>
                      </a:r>
                    </a:p>
                  </a:txBody>
                  <a:tcPr marL="133350" marR="952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50%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52%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54%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55%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56%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57%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58%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527A73"/>
                          </a:solidFill>
                          <a:latin typeface="Arial"/>
                          <a:ea typeface="Arial"/>
                          <a:cs typeface="Arial"/>
                        </a:rPr>
                        <a:t>59%</a:t>
                      </a:r>
                    </a:p>
                  </a:txBody>
                  <a:tcPr marL="57150" marR="57150" marT="95250" marB="95250" anchor="ctr">
                    <a:solidFill>
                      <a:srgbClr val="DCE7E2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Gross profit</a:t>
                      </a:r>
                    </a:p>
                  </a:txBody>
                  <a:tcPr marL="133350" marR="952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$4k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$10k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$20k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$37k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$64k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$102k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$154k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Operating spend</a:t>
                      </a:r>
                    </a:p>
                  </a:txBody>
                  <a:tcPr marL="133350" marR="952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$18k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$24k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$32k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$45k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$60k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$75k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$95k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$120k</a:t>
                      </a:r>
                    </a:p>
                  </a:txBody>
                  <a:tcPr marL="57150" marR="57150" marT="95250" marB="95250" anchor="ctr">
                    <a:solidFill>
                      <a:srgbClr val="FCFBF8"/>
                    </a:solidFill>
                  </a:tcPr>
                </a:tc>
              </a:tr>
              <a:tr h="53612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71A18"/>
                          </a:solidFill>
                          <a:latin typeface="Arial"/>
                          <a:ea typeface="Arial"/>
                          <a:cs typeface="Arial"/>
                        </a:rPr>
                        <a:t>Operating result</a:t>
                      </a:r>
                    </a:p>
                  </a:txBody>
                  <a:tcPr marL="133350" marR="95250" marT="95250" marB="95250" anchor="ctr"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85B52"/>
                          </a:solidFill>
                          <a:latin typeface="Arial"/>
                          <a:ea typeface="Arial"/>
                          <a:cs typeface="Arial"/>
                        </a:rPr>
                        <a:t>($17k)</a:t>
                      </a:r>
                    </a:p>
                  </a:txBody>
                  <a:tcPr marL="57150" marR="57150" marT="95250" marB="95250" anchor="ctr">
                    <a:solidFill>
                      <a:srgbClr val="F1E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85B52"/>
                          </a:solidFill>
                          <a:latin typeface="Arial"/>
                          <a:ea typeface="Arial"/>
                          <a:cs typeface="Arial"/>
                        </a:rPr>
                        <a:t>($20k)</a:t>
                      </a:r>
                    </a:p>
                  </a:txBody>
                  <a:tcPr marL="57150" marR="57150" marT="95250" marB="95250" anchor="ctr">
                    <a:solidFill>
                      <a:srgbClr val="F1E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85B52"/>
                          </a:solidFill>
                          <a:latin typeface="Arial"/>
                          <a:ea typeface="Arial"/>
                          <a:cs typeface="Arial"/>
                        </a:rPr>
                        <a:t>($22k)</a:t>
                      </a:r>
                    </a:p>
                  </a:txBody>
                  <a:tcPr marL="57150" marR="57150" marT="95250" marB="95250" anchor="ctr">
                    <a:solidFill>
                      <a:srgbClr val="F1E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85B52"/>
                          </a:solidFill>
                          <a:latin typeface="Arial"/>
                          <a:ea typeface="Arial"/>
                          <a:cs typeface="Arial"/>
                        </a:rPr>
                        <a:t>($25k)</a:t>
                      </a:r>
                    </a:p>
                  </a:txBody>
                  <a:tcPr marL="57150" marR="57150" marT="95250" marB="95250" anchor="ctr">
                    <a:solidFill>
                      <a:srgbClr val="F1E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85B52"/>
                          </a:solidFill>
                          <a:latin typeface="Arial"/>
                          <a:ea typeface="Arial"/>
                          <a:cs typeface="Arial"/>
                        </a:rPr>
                        <a:t>($23k)</a:t>
                      </a:r>
                    </a:p>
                  </a:txBody>
                  <a:tcPr marL="57150" marR="57150" marT="95250" marB="95250" anchor="ctr">
                    <a:solidFill>
                      <a:srgbClr val="F1E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985B52"/>
                          </a:solidFill>
                          <a:latin typeface="Arial"/>
                          <a:ea typeface="Arial"/>
                          <a:cs typeface="Arial"/>
                        </a:rPr>
                        <a:t>($11k)</a:t>
                      </a:r>
                    </a:p>
                  </a:txBody>
                  <a:tcPr marL="57150" marR="57150" marT="95250" marB="95250" anchor="ctr">
                    <a:solidFill>
                      <a:srgbClr val="F1E1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76B5F"/>
                          </a:solidFill>
                          <a:latin typeface="Arial"/>
                          <a:ea typeface="Arial"/>
                          <a:cs typeface="Arial"/>
                        </a:rPr>
                        <a:t>$7k</a:t>
                      </a:r>
                    </a:p>
                  </a:txBody>
                  <a:tcPr marL="57150" marR="57150" marT="95250" marB="95250" anchor="ctr">
                    <a:solidFill>
                      <a:srgbClr val="E7ECE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76B5F"/>
                          </a:solidFill>
                          <a:latin typeface="Arial"/>
                          <a:ea typeface="Arial"/>
                          <a:cs typeface="Arial"/>
                        </a:rPr>
                        <a:t>$34k</a:t>
                      </a:r>
                    </a:p>
                  </a:txBody>
                  <a:tcPr marL="57150" marR="57150" marT="95250" marB="95250" anchor="ctr">
                    <a:solidFill>
                      <a:srgbClr val="E7ECE4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7726F-D3A8-4702-95F5-452E3D2F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3848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821DB-27AB-43F5-8F79-F49CC0F7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76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$1.21M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0D0C5-B1E8-4136-B99F-3A28BCD8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5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C9CECA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C9CECA"/>
                </a:solidFill>
                <a:latin typeface="Arial"/>
                <a:ea typeface="Arial"/>
                <a:cs typeface="Arial"/>
              </a:rPr>
              <a:t>Exit ARR by Q3 ’28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2A0F3-5D0A-42B3-A317-AD332A5D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905500"/>
            <a:ext cx="3848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9A95B-CCA3-4FD5-B1B0-F8180A29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76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Q2 ’28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B2FBF-E46A-4EE3-B99D-8AF591D2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153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Operating breakeven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98E08-EDFD-4572-8CE5-BC7E4BAD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05500"/>
            <a:ext cx="422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F9560-626F-44F8-9148-5DA209E1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076950"/>
            <a:ext cx="102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59%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199BC-036E-46CB-A57F-993BD326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31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Gross margin at Q3 ’28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7FA875-742B-42C1-8AE2-5722DA47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961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0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Illustrative management base case—not current results. Values rounded.</a:t>
            </a:r>
          </a:p>
        </p:txBody>
      </p:sp>
    </p:spTree>
    <p:extLst>
      <p:ext uri="{BB962C8B-B14F-4D97-AF65-F5344CB8AC3E}">
        <p14:creationId xmlns:p14="http://schemas.microsoft.com/office/powerpoint/2010/main" val="20844205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5C4359-EA27-4973-9094-2D896F73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12 · WHY RUHANA WILL 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1A8E4-453C-42CB-82C1-8B9E4B73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Why Ruhana Will Win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2AEE2-3B22-417B-A4A2-6134B29A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The moat is the customer journey around the avatar—not the avatar alone.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75727-B34A-4BB5-996C-2D030FEB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a79e97a6c40af">
            <a:extLst>
              <a:ext uri="{96DAC541-7B7A-43D3-8B79-37D633B846F1}">
                <asvg:svgBlip xmlns:asvg="http://schemas.microsoft.com/office/drawing/2016/SVG/main" r:embed="R6fa21606373744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BB53B-97EA-4A19-B1B0-1764829C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DF882-60C3-4368-8342-3DD46158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756A5-B7CE-40D0-9E24-03A72919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00400"/>
            <a:ext cx="2209800" cy="220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8db5cf3974217">
            <a:extLst>
              <a:ext uri="{96DAC541-7B7A-43D3-8B79-37D633B846F1}">
                <asvg:svgBlip xmlns:asvg="http://schemas.microsoft.com/office/drawing/2016/SVG/main" r:embed="Rcb494c6ded234d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34150" y="37147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5B757-9938-4A01-998D-E80167E6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95800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RUHANA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42337-DB68-444F-8F70-469FE9BE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57750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0" i="0">
                <a:solidFill>
                  <a:srgbClr val="C9CECA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C9CECA"/>
                </a:solidFill>
                <a:latin typeface="Arial"/>
                <a:ea typeface="Arial"/>
                <a:cs typeface="Arial"/>
              </a:rPr>
              <a:t>context → action →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D17755-B5C3-4318-8BFE-D46B0AEC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38862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10734-61F9-41E8-9859-8A1F5CC6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9EB4B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E01819-C95E-4CA2-A4D4-6D11BC48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Observant by 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C45AF-6A07-494E-8BF8-4CE134D7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Page, product, clicks and visitor journey shape every turn.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0295A3-5DBA-4D86-AC91-7C140085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4591050" y="2657475"/>
            <a:ext cx="116205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EB4BC"/>
            </a:solidFill>
            <a:prstDash val="dash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2242F-F091-436B-AF71-6C75B01A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38862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C9F7C-E874-4433-A89B-0DE21C22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1455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A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0B4EA-703E-4856-AEAB-79F60595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Goal-directed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1A0BE-8CC4-446E-B7FA-EC124598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955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Sales and support playbooks move toward a useful next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1060E-7D95-46CD-B46F-6D13196B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962900" y="2657475"/>
            <a:ext cx="1162050" cy="1647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27A73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603EEF-511F-4184-9881-513DAB83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38862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16676-6E5F-4060-BCAB-B732A0BA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7E5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40C06-CE55-48F3-AD83-9089A2F1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3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Measured in outcomes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D89A5-4A89-4C79-8B4A-D4E8AE83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638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Revenue, qualification, booking, resolution and handoff are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2BE5B-80FB-4492-9FCF-2EF243A7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91050" y="4305300"/>
            <a:ext cx="1162050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7E5D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4266A9-5E38-47C9-92B8-F431C476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67300"/>
            <a:ext cx="3886200" cy="1466850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215B7-78C2-4CDF-B563-41A6DD22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257800"/>
            <a:ext cx="419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9D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5B410-3026-4E7F-96B6-475879C0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3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Simple to deploy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C68C3C-67D4-4384-BD42-0CD05343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6388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Four clear steps and one widget snippet keep the product accessible.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30B0D-A2B6-49F4-B6BE-D5872196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962900" y="4305300"/>
            <a:ext cx="1162050" cy="1495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9DB2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6BB263-1CAE-4501-8D4C-B9367F7F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29350"/>
            <a:ext cx="4381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CE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76B5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376B5F"/>
                </a:solidFill>
                <a:latin typeface="Arial"/>
                <a:ea typeface="Arial"/>
                <a:cs typeface="Arial"/>
              </a:rPr>
              <a:t>ENTERPRISE PATH: PRIVATE DEPLOYMENT + GOVERNANCE</a:t>
            </a:r>
          </a:p>
        </p:txBody>
      </p:sp>
    </p:spTree>
    <p:extLst>
      <p:ext uri="{BB962C8B-B14F-4D97-AF65-F5344CB8AC3E}">
        <p14:creationId xmlns:p14="http://schemas.microsoft.com/office/powerpoint/2010/main" val="18755340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3541F6-E34A-48C0-B2E5-68D0615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13 · TIMELINE &amp; 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99564-6B4A-49B9-AFC3-EF56917F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Timeline &amp; Traction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A9F3E-1ABB-4DD2-A8A7-B8F61F28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Built first. Validate outcomes next. Scale only after the loop is proven.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BE86C-B601-46CF-90C6-6202CA3B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bbacdea8b4881">
            <a:extLst>
              <a:ext uri="{96DAC541-7B7A-43D3-8B79-37D633B846F1}">
                <asvg:svgBlip xmlns:asvg="http://schemas.microsoft.com/office/drawing/2016/SVG/main" r:embed="R535fed037fd141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FC6C6-F6E6-4A3D-8787-956F47F6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2AF7E-01EC-4C47-BF6B-EA3EE2DC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00157-A7D3-494C-B844-745C5A22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85850" y="4171950"/>
            <a:ext cx="1154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1A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14572F-CA11-4DC1-8D2B-9FAB227B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B4BC"/>
          </a:solidFill>
          <a:ln xmlns:a="http://schemas.openxmlformats.org/drawingml/2006/main" w="28575">
            <a:solidFill>
              <a:srgbClr val="F7F5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CED3A-E050-4946-8062-0CA743AB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428750" y="3333750"/>
            <a:ext cx="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9EB4BC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6B587-34D7-4EAC-B181-42EBA856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7907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B06EA-08C1-43AF-A647-1B766DEA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A73"/>
                </a:solidFill>
                <a:latin typeface="Arial"/>
                <a:ea typeface="Arial"/>
                <a:cs typeface="Arial"/>
              </a:rPr>
              <a:t>BUILT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34427-F9CB-48AA-912C-901E78D8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AUG ’26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7FCA11-D514-41A2-A73F-1871F0C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Product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5445E-DA3E-46EB-8C6F-3E4884E1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Premium dashboard, agent model and four-step creation flow designed.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11521F-4741-4A40-B378-35D13E19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7A73"/>
          </a:solidFill>
          <a:ln xmlns:a="http://schemas.openxmlformats.org/drawingml/2006/main" w="28575">
            <a:solidFill>
              <a:srgbClr val="F7F5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23F7F-51ED-495D-9049-FAC51484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3571875" y="425767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527A73"/>
            </a:solidFill>
            <a:prstDash val="dash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826DB-A61E-45FE-8653-C8924212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762500"/>
            <a:ext cx="17907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1F4AA-3C71-42FF-AF2B-756C50A3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905375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27A73"/>
                </a:solidFill>
                <a:latin typeface="Arial"/>
                <a:ea typeface="Arial"/>
                <a:cs typeface="Arial"/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4A489-65F8-442B-94F6-0C98EE1C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953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SEP ’26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F16C2-B2FB-4AE2-BA2E-7EF25E5E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276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Live foundation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0B51D-0398-44E7-8678-3C4BD570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600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Public site, passwordless sign-in, embeddable widget and analytics backend.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73D68-7C93-42C5-9010-AB334C5F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7E5D"/>
          </a:solidFill>
          <a:ln xmlns:a="http://schemas.openxmlformats.org/drawingml/2006/main" w="28575">
            <a:solidFill>
              <a:srgbClr val="F7F5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2263B7-1F0A-4617-8BCC-39E985FF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5810250" y="3333750"/>
            <a:ext cx="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77E5D"/>
            </a:solidFill>
            <a:prstDash val="dash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7D8323-0202-4B62-A792-B2166D23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85950"/>
            <a:ext cx="17907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6CB54-02B8-4CF9-A9B6-BABF3C48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28825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7E5D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0D99A1-149A-40CC-A0CC-A1997B7D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Q4 ’26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9C46C-F741-4D5C-8790-1B4F9FA2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003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Design partners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AEFFD2-81D3-46CF-83F2-6C2779B8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5–10 focused pilots; instrument revenue, resolution and handoff quality.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0D479-5348-40D5-9742-76485FD4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9DB2"/>
          </a:solidFill>
          <a:ln xmlns:a="http://schemas.openxmlformats.org/drawingml/2006/main" w="28575">
            <a:solidFill>
              <a:srgbClr val="F7F5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E0C52B-B88D-4DD8-8FE5-38467817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8096250" y="4257675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99DB2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34B279-60AA-429D-831D-8AA3CC45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762500"/>
            <a:ext cx="17907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EC6BA-2E32-4336-8252-4427D4D8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05375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7E5D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5C87A7-3E25-4D52-B404-DC076921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95300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Q1 ’27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D9A9E-0775-4D65-9E8D-E6A4C04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768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Repeatable launch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30A2F1-C7A3-4F90-B3FB-D0DC4892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0070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Billing, priority integrations and first regulated deployment pilot.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0FD106-FF4A-4CE0-B641-E89A0905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086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C6B1"/>
          </a:solidFill>
          <a:ln xmlns:a="http://schemas.openxmlformats.org/drawingml/2006/main" w="28575">
            <a:solidFill>
              <a:srgbClr val="F7F5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30014A-3852-49EF-824B-E48DC0ED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10344150" y="3333750"/>
            <a:ext cx="0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8C6B1"/>
            </a:solidFill>
            <a:prstDash val="dash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7B80DD-164C-43A9-A374-A17AAC77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85950"/>
            <a:ext cx="17907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C18C6C-8C84-45A9-962D-8CE51940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28825"/>
            <a:ext cx="6286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77E5D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893F2C-F113-4BEF-8C91-09595D3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076450"/>
            <a:ext cx="723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Q2–Q4 ’27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8EB2C6-ADB2-48A9-94A3-BB668E5D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0030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Scale the wedge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36553A8-2BC6-4689-8836-4CA5025A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Multilingual playbooks, vertical templates and partner distribution.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F5BCC5-A513-43C0-8E9A-F981208D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77000"/>
            <a:ext cx="30099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E3BFE1-FFC1-40F7-9C29-EA1B35E5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6619875"/>
            <a:ext cx="2590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NOW · RUHANAAI.COM</a:t>
            </a:r>
          </a:p>
        </p:txBody>
      </p:sp>
    </p:spTree>
    <p:extLst>
      <p:ext uri="{BB962C8B-B14F-4D97-AF65-F5344CB8AC3E}">
        <p14:creationId xmlns:p14="http://schemas.microsoft.com/office/powerpoint/2010/main" val="15519981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5176D7-A9EC-40FF-8239-9839F8C8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14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C2F1A-4D79-49BD-8093-8E1CD905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9E044-0634-41EB-B374-1D9C6EFE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Current contributors across product, platform, and analytics.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D4A40-5EDC-4E97-99F0-3D037AEF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>
            <a:off x="704850" y="7381875"/>
            <a:ext cx="1230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D9D8D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ab21153a74de2">
            <a:extLst>
              <a:ext uri="{96DAC541-7B7A-43D3-8B79-37D633B846F1}">
                <asvg:svgBlip xmlns:asvg="http://schemas.microsoft.com/office/drawing/2016/SVG/main" r:embed="R0293aadd9d3d493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7458075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10223-110D-4356-9A11-0F7C1D2F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86650"/>
            <a:ext cx="1619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75" b="1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RUHANA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EE68D-582B-431C-B12B-B82023DB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7486650"/>
            <a:ext cx="9144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 i="0">
                <a:solidFill>
                  <a:srgbClr val="9AA09B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9AA09B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256A3-A815-47C5-9FE9-F66C2E0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76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4F8EEC-EF26-47DD-8133-B49A2D34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"/>
            <a:ext cx="419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14 ·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25FB4-D10B-4BD8-B293-CBAC6057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14375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150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26C13-A60C-4BAA-8535-B1CCB333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Current contributors across product, platform, and analytics.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63C34B-22EC-4828-BD78-042A4347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2876550" cy="31623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421881-649E-4D0A-A1B3-D1442B6A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2098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49499-557A-4373-938B-E6097C6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098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AH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B069B-E1FE-4224-A601-63A91F58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Abdul Hadi Asif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D73116-6A7F-4999-B9FD-BC79089F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527A73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7A73"/>
                </a:solidFill>
                <a:latin typeface="Arial"/>
                <a:ea typeface="Arial"/>
                <a:cs typeface="Arial"/>
              </a:rPr>
              <a:t>Product &amp; experience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CC962-E5B9-43B4-B795-D322A410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Brand, dashboard, landing experience and deployment UX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33CE4-6634-42A8-B176-E9E96D17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47850"/>
            <a:ext cx="2876550" cy="31623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E06DD-36EE-43DD-8F86-5BDBC915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E9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0459A-5199-48E8-BE87-00A6BFED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098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1B5B0-387F-4174-8684-9B5BD13B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8671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Huzaifa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D5DBC-8E61-4B9F-B3B4-174AE6CB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481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9EB4B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9EB4BC"/>
                </a:solidFill>
                <a:latin typeface="Arial"/>
                <a:ea typeface="Arial"/>
                <a:cs typeface="Arial"/>
              </a:rPr>
              <a:t>AI &amp; platform engineering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2FDD94-6EE3-4272-8EEA-37BED1F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5910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Agent services, model integration and backend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6562A-D3A7-46EA-AF04-16B79FE5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876550" cy="31623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DDCA9-C13F-48E8-AC78-C7F5E24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098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1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02BDB-4CD3-4E81-BCE2-FDAE7F91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6098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4C3E5F-0F44-40BC-AAEF-4F12150E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Rabi Ahmed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AA6D9C-99B5-43CC-B619-EBECD1BF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481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C77E5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77E5D"/>
                </a:solidFill>
                <a:latin typeface="Arial"/>
                <a:ea typeface="Arial"/>
                <a:cs typeface="Arial"/>
              </a:rPr>
              <a:t>Analytics engineering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460EB-6C9A-4924-9432-B24D6F7B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Session, conversion and business-impact analytics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1B4CC5-DDFB-49BF-932E-6FFF06F6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847850"/>
            <a:ext cx="2876550" cy="3162300"/>
          </a:xfrm>
          <a:prstGeom xmlns:a="http://schemas.openxmlformats.org/drawingml/2006/main" prst="roundRect">
            <a:avLst>
              <a:gd name="adj" fmla="val 7285"/>
            </a:avLst>
          </a:prstGeom>
          <a:solidFill xmlns:a="http://schemas.openxmlformats.org/drawingml/2006/main">
            <a:srgbClr val="FCFBF8"/>
          </a:solidFill>
          <a:ln xmlns:a="http://schemas.openxmlformats.org/drawingml/2006/main" w="9525">
            <a:solidFill>
              <a:srgbClr val="D9D8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ECB6F0-B065-45D1-AA3F-A81857F1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209800"/>
            <a:ext cx="1390650" cy="1390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C15DA-4317-47BE-A51B-98C5D512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609850"/>
            <a:ext cx="1390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550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9D9C30-060E-409F-AED5-9415A62F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86715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 i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1A18"/>
                </a:solidFill>
                <a:latin typeface="Arial"/>
                <a:ea typeface="Arial"/>
                <a:cs typeface="Arial"/>
              </a:rPr>
              <a:t>Next 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82B866-7D2E-430F-9AC8-38247704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4248150"/>
            <a:ext cx="2419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A99DB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A99DB2"/>
                </a:solidFill>
                <a:latin typeface="Arial"/>
                <a:ea typeface="Arial"/>
                <a:cs typeface="Arial"/>
              </a:rPr>
              <a:t>Customer success &amp; 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545B9A-DE03-41CE-88D9-E5E277C1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459105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825" b="0" i="0">
                <a:solidFill>
                  <a:srgbClr val="666D6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66D68"/>
                </a:solidFill>
                <a:latin typeface="Arial"/>
                <a:ea typeface="Arial"/>
                <a:cs typeface="Arial"/>
              </a:rPr>
              <a:t>Design partnerships, onboarding and repeatable distribution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86D58-3930-4236-B799-CB6411B4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2306300" cy="1371600"/>
          </a:xfrm>
          <a:prstGeom xmlns:a="http://schemas.openxmlformats.org/drawingml/2006/main" prst="roundRect">
            <a:avLst>
              <a:gd name="adj" fmla="val 15278"/>
            </a:avLst>
          </a:prstGeom>
          <a:solidFill xmlns:a="http://schemas.openxmlformats.org/drawingml/2006/main">
            <a:srgbClr val="1014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EF68A0-49E1-4B5A-8A1F-BDAD4AAB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388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 are building the human interface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773D72-24D2-4A58-8F15-8CA8FC9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198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0" i="1">
                <a:solidFill>
                  <a:srgbClr val="B8C6B1"/>
                </a:solidFill>
                <a:latin typeface="Georgia"/>
                <a:ea typeface="Georgia"/>
                <a:cs typeface="Georgia"/>
              </a:defRPr>
            </a:pPr>
            <a:r>
              <a:rPr sz="2175" b="0" i="1">
                <a:solidFill>
                  <a:srgbClr val="B8C6B1"/>
                </a:solidFill>
                <a:latin typeface="Georgia"/>
                <a:ea typeface="Georgia"/>
                <a:cs typeface="Georgia"/>
              </a:rPr>
              <a:t>for agentic customer journeys.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9BDCE4-334B-4783-8362-C38ACF58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19775"/>
            <a:ext cx="2133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7E5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RUHANAAI.COM</a:t>
            </a:r>
          </a:p>
        </p:txBody>
      </p:sp>
    </p:spTree>
    <p:extLst>
      <p:ext uri="{BB962C8B-B14F-4D97-AF65-F5344CB8AC3E}">
        <p14:creationId xmlns:p14="http://schemas.microsoft.com/office/powerpoint/2010/main" val="1327526136"/>
      </p:ext>
    </p:extLst>
  </p:cSld>
</p:sld>
</file>

<file path=ppt/theme/theme1.xml><?xml version="1.0" encoding="utf-8"?>
<a:theme xmlns:a="http://schemas.openxmlformats.org/drawingml/2006/main" name="ChatGPT">
  <a:themeElements>
    <a:clrScheme name="Ruhana Editorial">
      <a:dk1>
        <a:srgbClr val="101412"/>
      </a:dk1>
      <a:lt1>
        <a:srgbClr val="FFFFFF"/>
      </a:lt1>
      <a:dk2>
        <a:srgbClr val="171A18"/>
      </a:dk2>
      <a:lt2>
        <a:srgbClr val="FCFBF8"/>
      </a:lt2>
      <a:accent1>
        <a:srgbClr val="527A73"/>
      </a:accent1>
      <a:accent2>
        <a:srgbClr val="C77E5D"/>
      </a:accent2>
      <a:accent3>
        <a:srgbClr val="A99DB2"/>
      </a:accent3>
      <a:accent4>
        <a:srgbClr val="9EB4BC"/>
      </a:accent4>
      <a:accent5>
        <a:srgbClr val="B8C6B1"/>
      </a:accent5>
      <a:accent6>
        <a:srgbClr val="376B5F"/>
      </a:accent6>
      <a:hlink>
        <a:srgbClr val="527A73"/>
      </a:hlink>
      <a:folHlink>
        <a:srgbClr val="A99DB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uhana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2026-09-06T23:11:50.9130000Z</dcterms:created>
  <dcterms:modified xsi:type="dcterms:W3CDTF">2026-09-06T23:11:50.9130000Z</dcterms:modified>
</coreProperties>
</file>